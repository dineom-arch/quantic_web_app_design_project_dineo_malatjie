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3"/>
  </p:notesMasterIdLst>
  <p:sldIdLst>
    <p:sldId id="426" r:id="rId3"/>
    <p:sldId id="256" r:id="rId4"/>
    <p:sldId id="257" r:id="rId5"/>
    <p:sldId id="258" r:id="rId6"/>
    <p:sldId id="259" r:id="rId7"/>
    <p:sldId id="260" r:id="rId8"/>
    <p:sldId id="261" r:id="rId9"/>
    <p:sldId id="262" r:id="rId10"/>
    <p:sldId id="263" r:id="rId11"/>
    <p:sldId id="264"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name is Dineo Malatjie and I’m here to present my capstone pitch which I worked on </a:t>
            </a:r>
            <a:r>
              <a:rPr lang="en-US" dirty="0" err="1"/>
              <a:t>on</a:t>
            </a:r>
            <a:r>
              <a:rPr lang="en-US" dirty="0"/>
              <a:t> my own. I had problems getting the camera to focus on my ID while holding it up, so I’ve attached a photo of it instead.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482DF7-BC80-48FA-8088-1990ED6B5D99}"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3390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Café Fausse hero-banner.jpg,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Project summary derived from Pasted text(2).txt, user-provided report.</a:t>
            </a:r>
          </a:p>
          <a:p>
            <a:r>
              <a:t>- Café Fausse Interior.jpg, user-provided AI-generated project asset.</a:t>
            </a:r>
          </a:p>
          <a:p>
            <a:r>
              <a:t>- GitHub repository: https://github.com/dineom-arch/Quantic_Web_App_Design_Project_Dineo_Malatjie</a:t>
            </a:r>
          </a:p>
          <a:p>
            <a:r>
              <a:t>- Local website: http://localhost:3000/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Café Fausse Dishes.jpg,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Functional journey derived from Pasted text(2).txt, user-provided report.</a:t>
            </a:r>
          </a:p>
          <a:p>
            <a:r>
              <a:t>- Café Fausse Gallery.jpg,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Café Fausse Chef.jpg,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Architecture description derived from Pasted text(2).txt, user-provided report.</a:t>
            </a:r>
          </a:p>
          <a:p>
            <a:r>
              <a:t>- React documentation: https://react.dev/</a:t>
            </a:r>
          </a:p>
          <a:p>
            <a:r>
              <a:t>- Flask documentation: https://flask.palletsprojects.com/</a:t>
            </a:r>
          </a:p>
          <a:p>
            <a:r>
              <a:t>- PostgreSQL documentation: https://www.postgresql.org/docs/</a:t>
            </a:r>
          </a:p>
          <a:p>
            <a:r>
              <a:t>- Café Fausse Cocktails.jpg,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Café Fausse website screenshot supplied by the user.</a:t>
            </a:r>
          </a:p>
          <a:p>
            <a:r>
              <a:t>- Demo flow derived from Pasted text(2).txt, user-provided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Reference list reproduced and condensed from Pasted text(2).txt, user-provided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Café Fausse Desserts.jpg, user-provided AI-generated project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emf"/><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9.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8_Title Only">
    <p:bg>
      <p:bgPr>
        <a:solidFill>
          <a:srgbClr val="FF4D63"/>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643C0932-4F38-DA86-1778-0A8716EAFD09}"/>
              </a:ext>
            </a:extLst>
          </p:cNvPr>
          <p:cNvGraphicFramePr>
            <a:graphicFrameLocks noChangeAspect="1"/>
          </p:cNvGraphicFramePr>
          <p:nvPr userDrawn="1">
            <p:custDataLst>
              <p:tags r:id="rId1"/>
            </p:custDataLst>
            <p:extLst>
              <p:ext uri="{D42A27DB-BD31-4B8C-83A1-F6EECF244321}">
                <p14:modId xmlns:p14="http://schemas.microsoft.com/office/powerpoint/2010/main" val="350451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643C0932-4F38-DA86-1778-0A8716EAFD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B46402-E32F-770C-B6B2-3A039DF07DBA}"/>
              </a:ext>
            </a:extLst>
          </p:cNvPr>
          <p:cNvSpPr>
            <a:spLocks noGrp="1"/>
          </p:cNvSpPr>
          <p:nvPr>
            <p:ph type="title"/>
          </p:nvPr>
        </p:nvSpPr>
        <p:spPr>
          <a:xfrm>
            <a:off x="923746" y="1562909"/>
            <a:ext cx="5827862" cy="1849470"/>
          </a:xfrm>
          <a:prstGeom prst="rect">
            <a:avLst/>
          </a:prstGeom>
        </p:spPr>
        <p:txBody>
          <a:bodyPr vert="horz" lIns="0" tIns="0" rIns="0" bIns="0"/>
          <a:lstStyle>
            <a:lvl1pPr algn="l">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pic>
        <p:nvPicPr>
          <p:cNvPr id="4" name="Picture 3">
            <a:extLst>
              <a:ext uri="{FF2B5EF4-FFF2-40B4-BE49-F238E27FC236}">
                <a16:creationId xmlns:a16="http://schemas.microsoft.com/office/drawing/2014/main" id="{94071F3D-8585-EEFC-D754-5A1C02DD8F9C}"/>
              </a:ext>
            </a:extLst>
          </p:cNvPr>
          <p:cNvPicPr>
            <a:picLocks noGrp="1" noRot="1" noChangeAspect="1" noMove="1" noResize="1" noEditPoints="1" noAdjustHandles="1" noChangeArrowheads="1" noChangeShapeType="1" noCrop="1"/>
          </p:cNvPicPr>
          <p:nvPr userDrawn="1"/>
        </p:nvPicPr>
        <p:blipFill rotWithShape="1">
          <a:blip r:embed="rId5" cstate="print">
            <a:alphaModFix amt="30000"/>
            <a:extLst>
              <a:ext uri="{28A0092B-C50C-407E-A947-70E740481C1C}">
                <a14:useLocalDpi xmlns:a14="http://schemas.microsoft.com/office/drawing/2010/main" val="0"/>
              </a:ext>
            </a:extLst>
          </a:blip>
          <a:srcRect t="50000"/>
          <a:stretch/>
        </p:blipFill>
        <p:spPr>
          <a:xfrm>
            <a:off x="7880279" y="0"/>
            <a:ext cx="4311721" cy="2487644"/>
          </a:xfrm>
          <a:prstGeom prst="rect">
            <a:avLst/>
          </a:prstGeom>
        </p:spPr>
      </p:pic>
      <p:pic>
        <p:nvPicPr>
          <p:cNvPr id="5" name="Picture 4" descr="A white logo on a black background&#10;&#10;Description automatically generated with low confidence">
            <a:extLst>
              <a:ext uri="{FF2B5EF4-FFF2-40B4-BE49-F238E27FC236}">
                <a16:creationId xmlns:a16="http://schemas.microsoft.com/office/drawing/2014/main" id="{60CD71F5-6F71-88E5-074E-398634428F09}"/>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val="0"/>
              </a:ext>
            </a:extLst>
          </a:blip>
          <a:srcRect l="10133" t="20553" r="9375" b="23470"/>
          <a:stretch/>
        </p:blipFill>
        <p:spPr>
          <a:xfrm>
            <a:off x="9852067" y="5887388"/>
            <a:ext cx="1847254" cy="591386"/>
          </a:xfrm>
          <a:prstGeom prst="rect">
            <a:avLst/>
          </a:prstGeom>
        </p:spPr>
      </p:pic>
      <p:grpSp>
        <p:nvGrpSpPr>
          <p:cNvPr id="7" name="Group 6">
            <a:extLst>
              <a:ext uri="{FF2B5EF4-FFF2-40B4-BE49-F238E27FC236}">
                <a16:creationId xmlns:a16="http://schemas.microsoft.com/office/drawing/2014/main" id="{6A2E3795-13CB-1955-BBFE-BFB33DDC4735}"/>
              </a:ext>
            </a:extLst>
          </p:cNvPr>
          <p:cNvGrpSpPr>
            <a:grpSpLocks noGrp="1" noUngrp="1" noRot="1" noMove="1" noResize="1"/>
          </p:cNvGrpSpPr>
          <p:nvPr userDrawn="1"/>
        </p:nvGrpSpPr>
        <p:grpSpPr>
          <a:xfrm>
            <a:off x="5090437" y="2239747"/>
            <a:ext cx="5562470" cy="5364697"/>
            <a:chOff x="5283110" y="2263653"/>
            <a:chExt cx="5562470" cy="5364697"/>
          </a:xfrm>
        </p:grpSpPr>
        <p:pic>
          <p:nvPicPr>
            <p:cNvPr id="8" name="Picture 7" descr="A white dotted line on a black background&#10;&#10;Description automatically generated">
              <a:extLst>
                <a:ext uri="{FF2B5EF4-FFF2-40B4-BE49-F238E27FC236}">
                  <a16:creationId xmlns:a16="http://schemas.microsoft.com/office/drawing/2014/main" id="{0DC6FBFC-98CF-62BD-326C-37185EC8FE0F}"/>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rot="1213168">
              <a:off x="5283110" y="4453248"/>
              <a:ext cx="4087140" cy="3175102"/>
            </a:xfrm>
            <a:prstGeom prst="rect">
              <a:avLst/>
            </a:prstGeom>
          </p:spPr>
        </p:pic>
        <p:pic>
          <p:nvPicPr>
            <p:cNvPr id="9" name="Picture 8" descr="A cartoon rocket with a black circle&#10;&#10;Description automatically generated">
              <a:extLst>
                <a:ext uri="{FF2B5EF4-FFF2-40B4-BE49-F238E27FC236}">
                  <a16:creationId xmlns:a16="http://schemas.microsoft.com/office/drawing/2014/main" id="{B4D5A448-DB5B-62A4-B9BF-DDCA839188FA}"/>
                </a:ext>
              </a:extLst>
            </p:cNvPr>
            <p:cNvPicPr>
              <a:picLocks noGrp="1" noRot="1" noChangeAspect="1" noMove="1" noResize="1" noEditPoints="1" noAdjustHandles="1" noChangeArrowheads="1" noChangeShapeType="1" noCrop="1"/>
            </p:cNvPicPr>
            <p:nvPr/>
          </p:nvPicPr>
          <p:blipFill>
            <a:blip r:embed="rId8" cstate="print">
              <a:extLst>
                <a:ext uri="{28A0092B-C50C-407E-A947-70E740481C1C}">
                  <a14:useLocalDpi xmlns:a14="http://schemas.microsoft.com/office/drawing/2010/main" val="0"/>
                </a:ext>
              </a:extLst>
            </a:blip>
            <a:stretch>
              <a:fillRect/>
            </a:stretch>
          </p:blipFill>
          <p:spPr>
            <a:xfrm rot="884030">
              <a:off x="9073093" y="2263653"/>
              <a:ext cx="1772487" cy="3553012"/>
            </a:xfrm>
            <a:prstGeom prst="rect">
              <a:avLst/>
            </a:prstGeom>
          </p:spPr>
        </p:pic>
      </p:grpSp>
      <p:pic>
        <p:nvPicPr>
          <p:cNvPr id="10" name="Picture 9">
            <a:extLst>
              <a:ext uri="{FF2B5EF4-FFF2-40B4-BE49-F238E27FC236}">
                <a16:creationId xmlns:a16="http://schemas.microsoft.com/office/drawing/2014/main" id="{D30C3A84-5263-C289-3688-DE40F5F40FCB}"/>
              </a:ext>
            </a:extLst>
          </p:cNvPr>
          <p:cNvPicPr>
            <a:picLocks noChangeAspect="1"/>
          </p:cNvPicPr>
          <p:nvPr userDrawn="1"/>
        </p:nvPicPr>
        <p:blipFill>
          <a:blip r:embed="rId9"/>
          <a:stretch>
            <a:fillRect/>
          </a:stretch>
        </p:blipFill>
        <p:spPr>
          <a:xfrm>
            <a:off x="622526" y="262890"/>
            <a:ext cx="6795543" cy="514350"/>
          </a:xfrm>
          <a:prstGeom prst="rect">
            <a:avLst/>
          </a:prstGeom>
        </p:spPr>
      </p:pic>
      <p:pic>
        <p:nvPicPr>
          <p:cNvPr id="3" name="Picture 2" descr="A dotted line on a black background&#10;&#10;Description automatically generated">
            <a:extLst>
              <a:ext uri="{FF2B5EF4-FFF2-40B4-BE49-F238E27FC236}">
                <a16:creationId xmlns:a16="http://schemas.microsoft.com/office/drawing/2014/main" id="{70E12AD9-E630-86EA-4764-8EB6B4D4B67B}"/>
              </a:ext>
            </a:extLst>
          </p:cNvPr>
          <p:cNvPicPr>
            <a:picLocks noGrp="1" noRot="1" noChangeAspect="1" noMove="1" noResize="1" noEditPoints="1" noAdjustHandles="1" noChangeArrowheads="1" noChangeShapeType="1" noCrop="1"/>
          </p:cNvPicPr>
          <p:nvPr userDrawn="1"/>
        </p:nvPicPr>
        <p:blipFill>
          <a:blip r:embed="rId10">
            <a:extLst>
              <a:ext uri="{28A0092B-C50C-407E-A947-70E740481C1C}">
                <a14:useLocalDpi xmlns:a14="http://schemas.microsoft.com/office/drawing/2010/main" val="0"/>
              </a:ext>
            </a:extLst>
          </a:blip>
          <a:stretch>
            <a:fillRect/>
          </a:stretch>
        </p:blipFill>
        <p:spPr>
          <a:xfrm rot="6022462">
            <a:off x="-391217" y="-1141351"/>
            <a:ext cx="4832359" cy="4382000"/>
          </a:xfrm>
          <a:prstGeom prst="rect">
            <a:avLst/>
          </a:prstGeom>
        </p:spPr>
      </p:pic>
    </p:spTree>
    <p:extLst>
      <p:ext uri="{BB962C8B-B14F-4D97-AF65-F5344CB8AC3E}">
        <p14:creationId xmlns:p14="http://schemas.microsoft.com/office/powerpoint/2010/main" val="2318559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2_Title Only">
    <p:bg>
      <p:bgPr>
        <a:solidFill>
          <a:srgbClr val="FF4D6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ECEA50A-8C93-98A7-C35E-ABE5D2362F41}"/>
              </a:ext>
            </a:extLst>
          </p:cNvPr>
          <p:cNvGraphicFramePr>
            <a:graphicFrameLocks noChangeAspect="1"/>
          </p:cNvGraphicFramePr>
          <p:nvPr userDrawn="1">
            <p:custDataLst>
              <p:tags r:id="rId1"/>
            </p:custDataLst>
            <p:extLst>
              <p:ext uri="{D42A27DB-BD31-4B8C-83A1-F6EECF244321}">
                <p14:modId xmlns:p14="http://schemas.microsoft.com/office/powerpoint/2010/main" val="2714293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5ECEA50A-8C93-98A7-C35E-ABE5D2362F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userDrawn="1">
            <p:ph type="title" hasCustomPrompt="1"/>
          </p:nvPr>
        </p:nvSpPr>
        <p:spPr>
          <a:xfrm>
            <a:off x="2016277" y="2623670"/>
            <a:ext cx="8159444" cy="812549"/>
          </a:xfrm>
          <a:prstGeom prst="rect">
            <a:avLst/>
          </a:prstGeom>
        </p:spPr>
        <p:txBody>
          <a:bodyPr vert="horz" lIns="0" tIns="0" rIns="0" bIns="0"/>
          <a:lstStyle>
            <a:lvl1pPr algn="ctr">
              <a:defRPr lang="en-GB" sz="6000" b="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[Presentation’s Title]</a:t>
            </a:r>
            <a:endParaRPr lang="en-GB" dirty="0"/>
          </a:p>
        </p:txBody>
      </p:sp>
      <p:sp>
        <p:nvSpPr>
          <p:cNvPr id="7" name="Text Placeholder 14">
            <a:extLst>
              <a:ext uri="{FF2B5EF4-FFF2-40B4-BE49-F238E27FC236}">
                <a16:creationId xmlns:a16="http://schemas.microsoft.com/office/drawing/2014/main" id="{1817F288-9761-54B2-700C-F314CE039916}"/>
              </a:ext>
            </a:extLst>
          </p:cNvPr>
          <p:cNvSpPr>
            <a:spLocks noGrp="1"/>
          </p:cNvSpPr>
          <p:nvPr>
            <p:ph type="body" sz="quarter" idx="18" hasCustomPrompt="1"/>
          </p:nvPr>
        </p:nvSpPr>
        <p:spPr>
          <a:xfrm>
            <a:off x="2016277" y="3618114"/>
            <a:ext cx="8159444" cy="283621"/>
          </a:xfrm>
          <a:prstGeom prst="rect">
            <a:avLst/>
          </a:prstGeom>
        </p:spPr>
        <p:txBody>
          <a:bodyPr lIns="0" tIns="0" rIns="0" bIns="0"/>
          <a:lstStyle>
            <a:lvl1pPr marL="0" indent="0" algn="ctr">
              <a:buFontTx/>
              <a:buNone/>
              <a:defRPr sz="1600" b="0">
                <a:solidFill>
                  <a:schemeClr val="bg1"/>
                </a:solidFill>
                <a:latin typeface="Lab Grotesque Thin" panose="00000200000000000000" pitchFamily="50" charset="0"/>
              </a:defRPr>
            </a:lvl1pPr>
          </a:lstStyle>
          <a:p>
            <a:pPr lvl="0"/>
            <a:r>
              <a:rPr lang="en-US" dirty="0"/>
              <a:t>[Presentation’s Subtitle, if any]</a:t>
            </a:r>
            <a:endParaRPr lang="en-GB" dirty="0"/>
          </a:p>
        </p:txBody>
      </p:sp>
      <p:pic>
        <p:nvPicPr>
          <p:cNvPr id="4" name="Picture 3">
            <a:extLst>
              <a:ext uri="{FF2B5EF4-FFF2-40B4-BE49-F238E27FC236}">
                <a16:creationId xmlns:a16="http://schemas.microsoft.com/office/drawing/2014/main" id="{76EF9DAA-0676-DD50-5F0C-002ACD4E05E8}"/>
              </a:ext>
            </a:extLst>
          </p:cNvPr>
          <p:cNvPicPr>
            <a:picLocks noChangeAspect="1"/>
          </p:cNvPicPr>
          <p:nvPr userDrawn="1"/>
        </p:nvPicPr>
        <p:blipFill>
          <a:blip r:embed="rId5"/>
          <a:stretch>
            <a:fillRect/>
          </a:stretch>
        </p:blipFill>
        <p:spPr>
          <a:xfrm>
            <a:off x="622526" y="262890"/>
            <a:ext cx="6795543" cy="514350"/>
          </a:xfrm>
          <a:prstGeom prst="rect">
            <a:avLst/>
          </a:prstGeom>
        </p:spPr>
      </p:pic>
      <p:pic>
        <p:nvPicPr>
          <p:cNvPr id="6" name="Picture 5">
            <a:extLst>
              <a:ext uri="{FF2B5EF4-FFF2-40B4-BE49-F238E27FC236}">
                <a16:creationId xmlns:a16="http://schemas.microsoft.com/office/drawing/2014/main" id="{1273AA87-BC15-2278-4551-A2C779479625}"/>
              </a:ext>
            </a:extLst>
          </p:cNvPr>
          <p:cNvPicPr>
            <a:picLocks noGrp="1" noRot="1" noChangeAspect="1" noMove="1" noResize="1" noEditPoints="1" noAdjustHandles="1" noChangeArrowheads="1" noChangeShapeType="1" noCrop="1"/>
          </p:cNvPicPr>
          <p:nvPr userDrawn="1"/>
        </p:nvPicPr>
        <p:blipFill rotWithShape="1">
          <a:blip r:embed="rId6" cstate="print">
            <a:alphaModFix amt="30000"/>
            <a:extLst>
              <a:ext uri="{28A0092B-C50C-407E-A947-70E740481C1C}">
                <a14:useLocalDpi xmlns:a14="http://schemas.microsoft.com/office/drawing/2010/main" val="0"/>
              </a:ext>
            </a:extLst>
          </a:blip>
          <a:srcRect l="25117" t="37577"/>
          <a:stretch/>
        </p:blipFill>
        <p:spPr>
          <a:xfrm>
            <a:off x="0" y="-1"/>
            <a:ext cx="5752727" cy="5533543"/>
          </a:xfrm>
          <a:prstGeom prst="rect">
            <a:avLst/>
          </a:prstGeom>
        </p:spPr>
      </p:pic>
      <p:pic>
        <p:nvPicPr>
          <p:cNvPr id="3" name="Picture 2" descr="A white logo on a black background&#10;&#10;Description automatically generated with low confidence">
            <a:extLst>
              <a:ext uri="{FF2B5EF4-FFF2-40B4-BE49-F238E27FC236}">
                <a16:creationId xmlns:a16="http://schemas.microsoft.com/office/drawing/2014/main" id="{E6F085CD-6BB6-6D1F-6ECA-DC1AB1C645A9}"/>
              </a:ext>
            </a:extLst>
          </p:cNvPr>
          <p:cNvPicPr>
            <a:picLocks noGrp="1" noRot="1" noChangeAspect="1" noMove="1" noResize="1" noEditPoints="1" noAdjustHandles="1" noChangeArrowheads="1" noChangeShapeType="1" noCrop="1"/>
          </p:cNvPicPr>
          <p:nvPr userDrawn="1"/>
        </p:nvPicPr>
        <p:blipFill rotWithShape="1">
          <a:blip r:embed="rId7" cstate="print">
            <a:extLst>
              <a:ext uri="{28A0092B-C50C-407E-A947-70E740481C1C}">
                <a14:useLocalDpi xmlns:a14="http://schemas.microsoft.com/office/drawing/2010/main" val="0"/>
              </a:ext>
            </a:extLst>
          </a:blip>
          <a:srcRect l="10133" t="20553" r="9375" b="23470"/>
          <a:stretch/>
        </p:blipFill>
        <p:spPr>
          <a:xfrm>
            <a:off x="415546" y="328944"/>
            <a:ext cx="1847254" cy="591386"/>
          </a:xfrm>
          <a:prstGeom prst="rect">
            <a:avLst/>
          </a:prstGeom>
        </p:spPr>
      </p:pic>
    </p:spTree>
    <p:extLst>
      <p:ext uri="{BB962C8B-B14F-4D97-AF65-F5344CB8AC3E}">
        <p14:creationId xmlns:p14="http://schemas.microsoft.com/office/powerpoint/2010/main" val="104152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F49C4CF-3891-9311-E22D-DDB2459F9994}"/>
              </a:ext>
            </a:extLst>
          </p:cNvPr>
          <p:cNvGraphicFramePr>
            <a:graphicFrameLocks noChangeAspect="1"/>
          </p:cNvGraphicFramePr>
          <p:nvPr userDrawn="1">
            <p:custDataLst>
              <p:tags r:id="rId1"/>
            </p:custDataLst>
            <p:extLst>
              <p:ext uri="{D42A27DB-BD31-4B8C-83A1-F6EECF244321}">
                <p14:modId xmlns:p14="http://schemas.microsoft.com/office/powerpoint/2010/main" val="26640061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AF49C4CF-3891-9311-E22D-DDB2459F99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8" name="Picture 7" descr="A close-up of a pyramid&#10;&#10;Description automatically generated with low confidence">
            <a:extLst>
              <a:ext uri="{FF2B5EF4-FFF2-40B4-BE49-F238E27FC236}">
                <a16:creationId xmlns:a16="http://schemas.microsoft.com/office/drawing/2014/main" id="{44446980-01AF-6C2B-6DD6-1D1B7001CC6D}"/>
              </a:ext>
            </a:extLst>
          </p:cNvPr>
          <p:cNvPicPr>
            <a:picLocks noGrp="1" noRot="1" noChangeAspect="1" noMove="1" noResize="1" noEditPoints="1" noAdjustHandles="1" noChangeArrowheads="1" noChangeShapeType="1" noCrop="1"/>
          </p:cNvPicPr>
          <p:nvPr userDrawn="1"/>
        </p:nvPicPr>
        <p:blipFill>
          <a:blip r:embed="rId5"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2" name="Title 1">
            <a:extLst>
              <a:ext uri="{FF2B5EF4-FFF2-40B4-BE49-F238E27FC236}">
                <a16:creationId xmlns:a16="http://schemas.microsoft.com/office/drawing/2014/main" id="{F512093F-734A-2E9E-9BF3-E2CCD1247F14}"/>
              </a:ext>
            </a:extLst>
          </p:cNvPr>
          <p:cNvSpPr>
            <a:spLocks noGrp="1"/>
          </p:cNvSpPr>
          <p:nvPr>
            <p:ph type="title"/>
          </p:nvPr>
        </p:nvSpPr>
        <p:spPr>
          <a:xfrm>
            <a:off x="800100" y="248069"/>
            <a:ext cx="11161528" cy="701860"/>
          </a:xfrm>
          <a:prstGeom prst="rect">
            <a:avLst/>
          </a:prstGeom>
        </p:spPr>
        <p:txBody>
          <a:bodyPr vert="horz" lIns="0" tIns="0" rIns="0" bIns="0"/>
          <a:lstStyle>
            <a:lvl1pPr algn="l">
              <a:defRPr lang="en-US" sz="4000" b="0" kern="120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Tree>
    <p:extLst>
      <p:ext uri="{BB962C8B-B14F-4D97-AF65-F5344CB8AC3E}">
        <p14:creationId xmlns:p14="http://schemas.microsoft.com/office/powerpoint/2010/main" val="3820932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6_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8" name="Picture 7" descr="A close-up of a pyramid&#10;&#10;Description automatically generated with low confidence">
            <a:extLst>
              <a:ext uri="{FF2B5EF4-FFF2-40B4-BE49-F238E27FC236}">
                <a16:creationId xmlns:a16="http://schemas.microsoft.com/office/drawing/2014/main" id="{44446980-01AF-6C2B-6DD6-1D1B7001CC6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3" name="Title 1">
            <a:extLst>
              <a:ext uri="{FF2B5EF4-FFF2-40B4-BE49-F238E27FC236}">
                <a16:creationId xmlns:a16="http://schemas.microsoft.com/office/drawing/2014/main" id="{115A357C-83EE-AE4B-DEF5-D9E8CBE70E24}"/>
              </a:ext>
            </a:extLst>
          </p:cNvPr>
          <p:cNvSpPr>
            <a:spLocks noGrp="1"/>
          </p:cNvSpPr>
          <p:nvPr>
            <p:ph type="title"/>
          </p:nvPr>
        </p:nvSpPr>
        <p:spPr>
          <a:xfrm>
            <a:off x="838200" y="2110652"/>
            <a:ext cx="4539916" cy="1259655"/>
          </a:xfrm>
          <a:prstGeom prst="rect">
            <a:avLst/>
          </a:prstGeom>
        </p:spPr>
        <p:txBody>
          <a:bodyPr lIns="0" tIns="0" rIns="0" bIns="0"/>
          <a:lstStyle>
            <a:lvl1pPr algn="l">
              <a:defRPr lang="en-US" sz="4400" b="0" kern="120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
        <p:nvSpPr>
          <p:cNvPr id="2" name="Text Placeholder 14">
            <a:extLst>
              <a:ext uri="{FF2B5EF4-FFF2-40B4-BE49-F238E27FC236}">
                <a16:creationId xmlns:a16="http://schemas.microsoft.com/office/drawing/2014/main" id="{8A0A060F-9CD4-C558-7F0C-A243608D68C4}"/>
              </a:ext>
            </a:extLst>
          </p:cNvPr>
          <p:cNvSpPr>
            <a:spLocks noGrp="1"/>
          </p:cNvSpPr>
          <p:nvPr>
            <p:ph type="body" sz="quarter" idx="19" hasCustomPrompt="1"/>
          </p:nvPr>
        </p:nvSpPr>
        <p:spPr>
          <a:xfrm>
            <a:off x="838200" y="3646491"/>
            <a:ext cx="4539916" cy="934386"/>
          </a:xfrm>
          <a:prstGeom prst="rect">
            <a:avLst/>
          </a:prstGeom>
        </p:spPr>
        <p:txBody>
          <a:bodyPr lIns="0" tIns="0" rIns="0" bIns="0"/>
          <a:lstStyle>
            <a:lvl1pPr marL="0" indent="0">
              <a:buNone/>
              <a:defRPr sz="12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p>
        </p:txBody>
      </p:sp>
    </p:spTree>
    <p:extLst>
      <p:ext uri="{BB962C8B-B14F-4D97-AF65-F5344CB8AC3E}">
        <p14:creationId xmlns:p14="http://schemas.microsoft.com/office/powerpoint/2010/main" val="283048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6096000" y="0"/>
            <a:ext cx="6096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838200" y="1609587"/>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5" name="Picture 14" descr="A close-up of a pyramid&#10;&#10;Description automatically generated with low confidence"/>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4" name="Slide Number Placeholder 5">
            <a:extLst>
              <a:ext uri="{FF2B5EF4-FFF2-40B4-BE49-F238E27FC236}">
                <a16:creationId xmlns:a16="http://schemas.microsoft.com/office/drawing/2014/main" id="{62D2ABFA-B96E-D8A3-307D-D5F60346E28B}"/>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sp>
        <p:nvSpPr>
          <p:cNvPr id="6" name="Text Placeholder 14">
            <a:extLst>
              <a:ext uri="{FF2B5EF4-FFF2-40B4-BE49-F238E27FC236}">
                <a16:creationId xmlns:a16="http://schemas.microsoft.com/office/drawing/2014/main" id="{5A8F8405-D897-B860-A4F7-DC4719793E95}"/>
              </a:ext>
            </a:extLst>
          </p:cNvPr>
          <p:cNvSpPr>
            <a:spLocks noGrp="1"/>
          </p:cNvSpPr>
          <p:nvPr>
            <p:ph type="body" sz="quarter" idx="19" hasCustomPrompt="1"/>
          </p:nvPr>
        </p:nvSpPr>
        <p:spPr>
          <a:xfrm>
            <a:off x="838200" y="3140464"/>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98654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6096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4" name="Slide Number Placeholder 5">
            <a:extLst>
              <a:ext uri="{FF2B5EF4-FFF2-40B4-BE49-F238E27FC236}">
                <a16:creationId xmlns:a16="http://schemas.microsoft.com/office/drawing/2014/main" id="{92A2456E-1035-0F4A-6E52-F4C6542365CC}"/>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5" name="Title 13">
            <a:extLst>
              <a:ext uri="{FF2B5EF4-FFF2-40B4-BE49-F238E27FC236}">
                <a16:creationId xmlns:a16="http://schemas.microsoft.com/office/drawing/2014/main" id="{5B8518FC-E44E-5BCC-D197-35F2EE80A17E}"/>
              </a:ext>
            </a:extLst>
          </p:cNvPr>
          <p:cNvSpPr>
            <a:spLocks noGrp="1"/>
          </p:cNvSpPr>
          <p:nvPr>
            <p:ph type="title"/>
          </p:nvPr>
        </p:nvSpPr>
        <p:spPr>
          <a:xfrm>
            <a:off x="6741058" y="1609586"/>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6" name="Text Placeholder 14">
            <a:extLst>
              <a:ext uri="{FF2B5EF4-FFF2-40B4-BE49-F238E27FC236}">
                <a16:creationId xmlns:a16="http://schemas.microsoft.com/office/drawing/2014/main" id="{45E8B078-76C4-88F1-0B80-CF1E382788C6}"/>
              </a:ext>
            </a:extLst>
          </p:cNvPr>
          <p:cNvSpPr>
            <a:spLocks noGrp="1"/>
          </p:cNvSpPr>
          <p:nvPr>
            <p:ph type="body" sz="quarter" idx="19" hasCustomPrompt="1"/>
          </p:nvPr>
        </p:nvSpPr>
        <p:spPr>
          <a:xfrm>
            <a:off x="6741058" y="3140463"/>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4258587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3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2902998" cy="6858000"/>
          </a:xfrm>
          <a:prstGeom prst="rect">
            <a:avLst/>
          </a:prstGeom>
          <a:pattFill prst="pct5">
            <a:fgClr>
              <a:schemeClr val="accent1"/>
            </a:fgClr>
            <a:bgClr>
              <a:schemeClr val="tx2"/>
            </a:bgClr>
          </a:pattFill>
        </p:spPr>
        <p:txBody>
          <a:bodyPr lIns="91439" tIns="45719" rIns="91439" bIns="45719" anchor="t">
            <a:noAutofit/>
          </a:bodyPr>
          <a:lstStyle>
            <a:lvl1pPr marL="0" marR="0" indent="0" algn="l" defTabSz="412750" eaLnBrk="1" fontAlgn="auto" latinLnBrk="0" hangingPunct="1">
              <a:lnSpc>
                <a:spcPct val="120000"/>
              </a:lnSpc>
              <a:spcBef>
                <a:spcPts val="2600"/>
              </a:spcBef>
              <a:spcAft>
                <a:spcPts val="0"/>
              </a:spcAft>
              <a:buClrTx/>
              <a:buSzPct val="75000"/>
              <a:buFontTx/>
              <a:buNone/>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3358832" y="1611174"/>
            <a:ext cx="7288043" cy="1298661"/>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5" name="Slide Number Placeholder 5">
            <a:extLst>
              <a:ext uri="{FF2B5EF4-FFF2-40B4-BE49-F238E27FC236}">
                <a16:creationId xmlns:a16="http://schemas.microsoft.com/office/drawing/2014/main" id="{3864F55E-1FBC-27E9-E0D7-14F57CE689AF}"/>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2" name="Picture 1" descr="Shape, arrow&#10;&#10;Description automatically generated">
            <a:extLst>
              <a:ext uri="{FF2B5EF4-FFF2-40B4-BE49-F238E27FC236}">
                <a16:creationId xmlns:a16="http://schemas.microsoft.com/office/drawing/2014/main" id="{CADEFCE0-42AB-B32C-7217-6D2062577A36}"/>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6" name="Text Placeholder 14">
            <a:extLst>
              <a:ext uri="{FF2B5EF4-FFF2-40B4-BE49-F238E27FC236}">
                <a16:creationId xmlns:a16="http://schemas.microsoft.com/office/drawing/2014/main" id="{625DCF11-2983-009F-E97D-DBC7BF6A24E9}"/>
              </a:ext>
            </a:extLst>
          </p:cNvPr>
          <p:cNvSpPr>
            <a:spLocks noGrp="1"/>
          </p:cNvSpPr>
          <p:nvPr>
            <p:ph type="body" sz="quarter" idx="19" hasCustomPrompt="1"/>
          </p:nvPr>
        </p:nvSpPr>
        <p:spPr>
          <a:xfrm>
            <a:off x="3358832" y="3174241"/>
            <a:ext cx="7288042"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232771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4_slide-057">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3EA206D-87A7-1A35-0DA1-6586597487F3}"/>
              </a:ext>
            </a:extLst>
          </p:cNvPr>
          <p:cNvGraphicFramePr>
            <a:graphicFrameLocks noChangeAspect="1"/>
          </p:cNvGraphicFramePr>
          <p:nvPr userDrawn="1">
            <p:custDataLst>
              <p:tags r:id="rId1"/>
            </p:custDataLst>
            <p:extLst>
              <p:ext uri="{D42A27DB-BD31-4B8C-83A1-F6EECF244321}">
                <p14:modId xmlns:p14="http://schemas.microsoft.com/office/powerpoint/2010/main" val="3459011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23EA206D-87A7-1A35-0DA1-6586597487F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Shape 615"/>
          <p:cNvSpPr>
            <a:spLocks noGrp="1"/>
          </p:cNvSpPr>
          <p:nvPr>
            <p:ph type="pic" sz="half" idx="14" hasCustomPrompt="1"/>
          </p:nvPr>
        </p:nvSpPr>
        <p:spPr>
          <a:xfrm>
            <a:off x="9289002" y="0"/>
            <a:ext cx="2902998" cy="6858000"/>
          </a:xfrm>
          <a:prstGeom prst="rect">
            <a:avLst/>
          </a:prstGeom>
          <a:pattFill prst="pct5">
            <a:fgClr>
              <a:schemeClr val="accent1"/>
            </a:fgClr>
            <a:bgClr>
              <a:schemeClr val="tx2"/>
            </a:bgClr>
          </a:pattFill>
        </p:spPr>
        <p:txBody>
          <a:bodyPr lIns="91439" tIns="45719" rIns="91439" bIns="45719" anchor="t">
            <a:noAutofit/>
          </a:bodyPr>
          <a:lstStyle>
            <a:lvl1pPr marL="0" marR="0" indent="0" algn="l" defTabSz="412750" eaLnBrk="1" fontAlgn="auto" latinLnBrk="0" hangingPunct="1">
              <a:lnSpc>
                <a:spcPct val="120000"/>
              </a:lnSpc>
              <a:spcBef>
                <a:spcPts val="2600"/>
              </a:spcBef>
              <a:spcAft>
                <a:spcPts val="0"/>
              </a:spcAft>
              <a:buClrTx/>
              <a:buSzPct val="75000"/>
              <a:buFontTx/>
              <a:buNone/>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1061402" y="1634034"/>
            <a:ext cx="7288043" cy="1298661"/>
          </a:xfrm>
          <a:prstGeom prst="rect">
            <a:avLst/>
          </a:prstGeom>
        </p:spPr>
        <p:txBody>
          <a:bodyPr vert="horz"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5" name="Slide Number Placeholder 5">
            <a:extLst>
              <a:ext uri="{FF2B5EF4-FFF2-40B4-BE49-F238E27FC236}">
                <a16:creationId xmlns:a16="http://schemas.microsoft.com/office/drawing/2014/main" id="{3864F55E-1FBC-27E9-E0D7-14F57CE689AF}"/>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2" name="Picture 1" descr="Shape, arrow&#10;&#10;Description automatically generated">
            <a:extLst>
              <a:ext uri="{FF2B5EF4-FFF2-40B4-BE49-F238E27FC236}">
                <a16:creationId xmlns:a16="http://schemas.microsoft.com/office/drawing/2014/main" id="{CADEFCE0-42AB-B32C-7217-6D2062577A36}"/>
              </a:ext>
            </a:extLst>
          </p:cNvPr>
          <p:cNvPicPr>
            <a:picLocks noGrp="1" noRot="1" noChangeAspect="1" noMove="1" noResize="1" noEditPoints="1" noAdjustHandles="1" noChangeArrowheads="1" noChangeShapeType="1" noCrop="1"/>
          </p:cNvPicPr>
          <p:nvPr userDrawn="1"/>
        </p:nvPicPr>
        <p:blipFill>
          <a:blip r:embed="rId5"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6" name="Text Placeholder 14">
            <a:extLst>
              <a:ext uri="{FF2B5EF4-FFF2-40B4-BE49-F238E27FC236}">
                <a16:creationId xmlns:a16="http://schemas.microsoft.com/office/drawing/2014/main" id="{625DCF11-2983-009F-E97D-DBC7BF6A24E9}"/>
              </a:ext>
            </a:extLst>
          </p:cNvPr>
          <p:cNvSpPr>
            <a:spLocks noGrp="1"/>
          </p:cNvSpPr>
          <p:nvPr>
            <p:ph type="body" sz="quarter" idx="19" hasCustomPrompt="1"/>
          </p:nvPr>
        </p:nvSpPr>
        <p:spPr>
          <a:xfrm>
            <a:off x="1061402" y="3197101"/>
            <a:ext cx="7288042"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1185913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3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35511"/>
            <a:ext cx="12192000" cy="3429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925243" y="3735258"/>
            <a:ext cx="8982149" cy="653779"/>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8" name="Slide Number Placeholder 5">
            <a:extLst>
              <a:ext uri="{FF2B5EF4-FFF2-40B4-BE49-F238E27FC236}">
                <a16:creationId xmlns:a16="http://schemas.microsoft.com/office/drawing/2014/main" id="{FF0D7D25-B90A-7F0C-0AA0-2AC0817E20D9}"/>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3" name="Text Placeholder 14">
            <a:extLst>
              <a:ext uri="{FF2B5EF4-FFF2-40B4-BE49-F238E27FC236}">
                <a16:creationId xmlns:a16="http://schemas.microsoft.com/office/drawing/2014/main" id="{87E238C7-87EC-5A21-BD6A-B4A119C0C8F7}"/>
              </a:ext>
            </a:extLst>
          </p:cNvPr>
          <p:cNvSpPr>
            <a:spLocks noGrp="1"/>
          </p:cNvSpPr>
          <p:nvPr>
            <p:ph type="body" sz="quarter" idx="19" hasCustomPrompt="1"/>
          </p:nvPr>
        </p:nvSpPr>
        <p:spPr>
          <a:xfrm>
            <a:off x="925243" y="4574176"/>
            <a:ext cx="5433191"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90867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4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12192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1743924" y="2777481"/>
            <a:ext cx="8704152" cy="653779"/>
          </a:xfrm>
          <a:prstGeom prst="rect">
            <a:avLst/>
          </a:prstGeom>
        </p:spPr>
        <p:txBody>
          <a:bodyPr lIns="0" tIns="0" rIns="0" bIns="0"/>
          <a:lstStyle>
            <a:lvl1pPr algn="ctr">
              <a:defRPr lang="en-GB" b="0" dirty="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4" name="Slide Number Placeholder 5">
            <a:extLst>
              <a:ext uri="{FF2B5EF4-FFF2-40B4-BE49-F238E27FC236}">
                <a16:creationId xmlns:a16="http://schemas.microsoft.com/office/drawing/2014/main" id="{B33ABC23-FDFD-0495-2142-07EA7FD18347}"/>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sp>
        <p:nvSpPr>
          <p:cNvPr id="6" name="Text Placeholder 14">
            <a:extLst>
              <a:ext uri="{FF2B5EF4-FFF2-40B4-BE49-F238E27FC236}">
                <a16:creationId xmlns:a16="http://schemas.microsoft.com/office/drawing/2014/main" id="{09F62AAB-A189-18AD-9187-9DCD7A1DEFC0}"/>
              </a:ext>
            </a:extLst>
          </p:cNvPr>
          <p:cNvSpPr>
            <a:spLocks noGrp="1"/>
          </p:cNvSpPr>
          <p:nvPr>
            <p:ph type="body" sz="quarter" idx="19" hasCustomPrompt="1"/>
          </p:nvPr>
        </p:nvSpPr>
        <p:spPr>
          <a:xfrm>
            <a:off x="1743922" y="3662312"/>
            <a:ext cx="8704151" cy="1078452"/>
          </a:xfrm>
          <a:prstGeom prst="rect">
            <a:avLst/>
          </a:prstGeom>
        </p:spPr>
        <p:txBody>
          <a:bodyPr lIns="0" tIns="0" rIns="0" bIns="0"/>
          <a:lstStyle>
            <a:lvl1pPr marL="0" indent="0" algn="ctr">
              <a:buNone/>
              <a:defRPr sz="1600" b="0">
                <a:solidFill>
                  <a:schemeClr val="bg1"/>
                </a:solidFill>
                <a:latin typeface="Lab Grotesque Thin" panose="00000200000000000000" pitchFamily="50" charset="0"/>
              </a:defRPr>
            </a:lvl1pPr>
          </a:lstStyle>
          <a:p>
            <a:pPr lvl="0"/>
            <a:r>
              <a:rPr lang="en-US" dirty="0"/>
              <a:t>[Subtitle]</a:t>
            </a:r>
          </a:p>
        </p:txBody>
      </p:sp>
    </p:spTree>
    <p:extLst>
      <p:ext uri="{BB962C8B-B14F-4D97-AF65-F5344CB8AC3E}">
        <p14:creationId xmlns:p14="http://schemas.microsoft.com/office/powerpoint/2010/main" val="1064166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0_Title Only">
    <p:bg>
      <p:bgPr>
        <a:solidFill>
          <a:srgbClr val="FF4D63"/>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A874A42-4105-02F0-BB31-7C5F7C51E2D0}"/>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pic>
        <p:nvPicPr>
          <p:cNvPr id="6" name="Picture 5" descr="Shape, arrow&#10;&#10;Description automatically generated">
            <a:extLst>
              <a:ext uri="{FF2B5EF4-FFF2-40B4-BE49-F238E27FC236}">
                <a16:creationId xmlns:a16="http://schemas.microsoft.com/office/drawing/2014/main" id="{74C4CA9E-3397-FFBF-898B-B729A3FD1E91}"/>
              </a:ext>
            </a:extLst>
          </p:cNvPr>
          <p:cNvPicPr>
            <a:picLocks noGrp="1" noRot="1" noChangeAspect="1" noMove="1" noResize="1" noEditPoints="1" noAdjustHandles="1" noChangeArrowheads="1" noChangeShapeType="1" noCrop="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8" name="Title 1">
            <a:extLst>
              <a:ext uri="{FF2B5EF4-FFF2-40B4-BE49-F238E27FC236}">
                <a16:creationId xmlns:a16="http://schemas.microsoft.com/office/drawing/2014/main" id="{7D72E17C-2684-E7F3-8693-22F3558DC75C}"/>
              </a:ext>
            </a:extLst>
          </p:cNvPr>
          <p:cNvSpPr>
            <a:spLocks noGrp="1"/>
          </p:cNvSpPr>
          <p:nvPr>
            <p:ph type="title"/>
          </p:nvPr>
        </p:nvSpPr>
        <p:spPr>
          <a:xfrm>
            <a:off x="1257300" y="1066258"/>
            <a:ext cx="9677400" cy="701860"/>
          </a:xfrm>
          <a:prstGeom prst="rect">
            <a:avLst/>
          </a:prstGeom>
        </p:spPr>
        <p:txBody>
          <a:bodyPr lIns="0" tIns="0" rIns="0" bIns="0"/>
          <a:lstStyle>
            <a:lvl1pPr algn="ctr">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
        <p:nvSpPr>
          <p:cNvPr id="9" name="Text Placeholder 14">
            <a:extLst>
              <a:ext uri="{FF2B5EF4-FFF2-40B4-BE49-F238E27FC236}">
                <a16:creationId xmlns:a16="http://schemas.microsoft.com/office/drawing/2014/main" id="{F499FF81-28F6-0111-41C4-83FB7950F678}"/>
              </a:ext>
            </a:extLst>
          </p:cNvPr>
          <p:cNvSpPr>
            <a:spLocks noGrp="1"/>
          </p:cNvSpPr>
          <p:nvPr>
            <p:ph type="body" sz="quarter" idx="18" hasCustomPrompt="1"/>
          </p:nvPr>
        </p:nvSpPr>
        <p:spPr>
          <a:xfrm>
            <a:off x="2682402" y="2048133"/>
            <a:ext cx="6827196" cy="1380867"/>
          </a:xfrm>
          <a:prstGeom prst="rect">
            <a:avLst/>
          </a:prstGeom>
        </p:spPr>
        <p:txBody>
          <a:bodyPr lIns="0" tIns="0" rIns="0" bIns="0"/>
          <a:lstStyle>
            <a:lvl1pPr marL="0" indent="0" algn="ctr">
              <a:buNone/>
              <a:defRPr sz="1600" b="0">
                <a:solidFill>
                  <a:schemeClr val="bg1"/>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endParaRPr lang="en-GB" dirty="0"/>
          </a:p>
        </p:txBody>
      </p:sp>
    </p:spTree>
    <p:extLst>
      <p:ext uri="{BB962C8B-B14F-4D97-AF65-F5344CB8AC3E}">
        <p14:creationId xmlns:p14="http://schemas.microsoft.com/office/powerpoint/2010/main" val="610429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7_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ABF9AF-077E-7F4A-6F35-441B521BDE7F}"/>
              </a:ext>
            </a:extLst>
          </p:cNvPr>
          <p:cNvSpPr>
            <a:spLocks/>
          </p:cNvSpPr>
          <p:nvPr userDrawn="1"/>
        </p:nvSpPr>
        <p:spPr>
          <a:xfrm>
            <a:off x="6096000" y="0"/>
            <a:ext cx="6096000" cy="6858000"/>
          </a:xfrm>
          <a:prstGeom prst="rect">
            <a:avLst/>
          </a:prstGeom>
          <a:solidFill>
            <a:srgbClr val="FF4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Lab Grotesque Thin" panose="00000200000000000000" pitchFamily="50" charset="0"/>
            </a:endParaRPr>
          </a:p>
        </p:txBody>
      </p:sp>
      <p:sp>
        <p:nvSpPr>
          <p:cNvPr id="6" name="Slide Number Placeholder 5">
            <a:extLst>
              <a:ext uri="{FF2B5EF4-FFF2-40B4-BE49-F238E27FC236}">
                <a16:creationId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pic>
        <p:nvPicPr>
          <p:cNvPr id="4" name="Picture 3" descr="A close-up of a pyramid&#10;&#10;Description automatically generated with low confidence">
            <a:extLst>
              <a:ext uri="{FF2B5EF4-FFF2-40B4-BE49-F238E27FC236}">
                <a16:creationId xmlns:a16="http://schemas.microsoft.com/office/drawing/2014/main" id="{3C4D0131-DCCC-A2C6-C843-13194F0D843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8" name="Title 13">
            <a:extLst>
              <a:ext uri="{FF2B5EF4-FFF2-40B4-BE49-F238E27FC236}">
                <a16:creationId xmlns:a16="http://schemas.microsoft.com/office/drawing/2014/main" id="{0C814B62-B21F-64D6-E0ED-CC147856DB5B}"/>
              </a:ext>
            </a:extLst>
          </p:cNvPr>
          <p:cNvSpPr>
            <a:spLocks noGrp="1"/>
          </p:cNvSpPr>
          <p:nvPr>
            <p:ph type="title"/>
          </p:nvPr>
        </p:nvSpPr>
        <p:spPr>
          <a:xfrm>
            <a:off x="838200" y="1609587"/>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9" name="Text Placeholder 14">
            <a:extLst>
              <a:ext uri="{FF2B5EF4-FFF2-40B4-BE49-F238E27FC236}">
                <a16:creationId xmlns:a16="http://schemas.microsoft.com/office/drawing/2014/main" id="{3A2CC639-723A-B816-EC03-79F242B935C7}"/>
              </a:ext>
            </a:extLst>
          </p:cNvPr>
          <p:cNvSpPr>
            <a:spLocks noGrp="1"/>
          </p:cNvSpPr>
          <p:nvPr>
            <p:ph type="body" sz="quarter" idx="19" hasCustomPrompt="1"/>
          </p:nvPr>
        </p:nvSpPr>
        <p:spPr>
          <a:xfrm>
            <a:off x="838200" y="3140464"/>
            <a:ext cx="4539916" cy="1494910"/>
          </a:xfrm>
          <a:prstGeom prst="rect">
            <a:avLst/>
          </a:prstGeom>
        </p:spPr>
        <p:txBody>
          <a:bodyPr lIns="0" tIns="0" rIns="0" bIns="0"/>
          <a:lstStyle>
            <a:lvl1pPr marL="0" indent="0">
              <a:buNone/>
              <a:defRPr sz="1400" b="0">
                <a:solidFill>
                  <a:srgbClr val="3C4C5F"/>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4019097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9_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ABF9AF-077E-7F4A-6F35-441B521BDE7F}"/>
              </a:ext>
            </a:extLst>
          </p:cNvPr>
          <p:cNvSpPr>
            <a:spLocks/>
          </p:cNvSpPr>
          <p:nvPr userDrawn="1"/>
        </p:nvSpPr>
        <p:spPr>
          <a:xfrm>
            <a:off x="0" y="0"/>
            <a:ext cx="6096000" cy="6858000"/>
          </a:xfrm>
          <a:prstGeom prst="rect">
            <a:avLst/>
          </a:prstGeom>
          <a:solidFill>
            <a:srgbClr val="FF4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Lab Grotesque Thin" panose="00000200000000000000" pitchFamily="50" charset="0"/>
            </a:endParaRPr>
          </a:p>
        </p:txBody>
      </p:sp>
      <p:pic>
        <p:nvPicPr>
          <p:cNvPr id="7" name="Picture 6" descr="Shape, arrow&#10;&#10;Description automatically generated">
            <a:extLst>
              <a:ext uri="{FF2B5EF4-FFF2-40B4-BE49-F238E27FC236}">
                <a16:creationId xmlns:a16="http://schemas.microsoft.com/office/drawing/2014/main" id="{24DDCA80-7F6B-BDE6-107B-156EF35AE50A}"/>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9" name="Slide Number Placeholder 5">
            <a:extLst>
              <a:ext uri="{FF2B5EF4-FFF2-40B4-BE49-F238E27FC236}">
                <a16:creationId xmlns:a16="http://schemas.microsoft.com/office/drawing/2014/main" id="{3058B245-40BB-7332-AA14-F2EBF7685BF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14" name="Title 13">
            <a:extLst>
              <a:ext uri="{FF2B5EF4-FFF2-40B4-BE49-F238E27FC236}">
                <a16:creationId xmlns:a16="http://schemas.microsoft.com/office/drawing/2014/main" id="{A0E42419-A871-71E1-C0E9-ECCD9951D4A9}"/>
              </a:ext>
            </a:extLst>
          </p:cNvPr>
          <p:cNvSpPr>
            <a:spLocks noGrp="1"/>
          </p:cNvSpPr>
          <p:nvPr>
            <p:ph type="title"/>
          </p:nvPr>
        </p:nvSpPr>
        <p:spPr>
          <a:xfrm>
            <a:off x="6741058" y="1609586"/>
            <a:ext cx="4539916" cy="1187218"/>
          </a:xfrm>
          <a:prstGeom prst="rect">
            <a:avLst/>
          </a:prstGeom>
        </p:spPr>
        <p:txBody>
          <a:bodyPr lIns="0" tIns="0" rIns="0" bIns="0"/>
          <a:lstStyle>
            <a:lvl1pPr>
              <a:defRPr lang="en-GB" b="0" i="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15" name="Text Placeholder 14">
            <a:extLst>
              <a:ext uri="{FF2B5EF4-FFF2-40B4-BE49-F238E27FC236}">
                <a16:creationId xmlns:a16="http://schemas.microsoft.com/office/drawing/2014/main" id="{8026333A-4E8D-F21F-8670-30DDBA50F689}"/>
              </a:ext>
            </a:extLst>
          </p:cNvPr>
          <p:cNvSpPr>
            <a:spLocks noGrp="1"/>
          </p:cNvSpPr>
          <p:nvPr>
            <p:ph type="body" sz="quarter" idx="19" hasCustomPrompt="1"/>
          </p:nvPr>
        </p:nvSpPr>
        <p:spPr>
          <a:xfrm>
            <a:off x="6741058" y="3140463"/>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4113086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9_Title Only">
    <p:bg>
      <p:bgPr>
        <a:solidFill>
          <a:srgbClr val="FF4D63"/>
        </a:solidFill>
        <a:effectLst/>
      </p:bgPr>
    </p:bg>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B89E17BA-9162-B983-0C01-CC7A40829780}"/>
              </a:ext>
            </a:extLst>
          </p:cNvPr>
          <p:cNvSpPr txBox="1">
            <a:spLocks noGrp="1" noRot="1" noMove="1" noResize="1" noEditPoints="1" noAdjustHandles="1" noChangeArrowheads="1" noChangeShapeType="1"/>
          </p:cNvSpPr>
          <p:nvPr userDrawn="1"/>
        </p:nvSpPr>
        <p:spPr>
          <a:xfrm>
            <a:off x="741781" y="4792616"/>
            <a:ext cx="5420894" cy="1578637"/>
          </a:xfrm>
          <a:prstGeom prst="rect">
            <a:avLst/>
          </a:prstGeom>
        </p:spPr>
        <p:txBody>
          <a:bodyPr vert="horz" wrap="square" lIns="0" tIns="39370" rIns="0" bIns="0" rtlCol="0">
            <a:spAutoFit/>
          </a:bodyPr>
          <a:lstStyle/>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Quantic School of Business and Technology is licensed by the District of Columbia Higher Education Licensure Commission in Washington, DC and accredited by the Distance Education Accrediting Commission (DEAC). The DEAC is listed by the United States Department of Education as a recognized accrediting agency and is also recognized by the Council for Higher Education Accreditation (CHEA).</a:t>
            </a:r>
          </a:p>
          <a:p>
            <a:pPr marL="12700">
              <a:lnSpc>
                <a:spcPct val="100000"/>
              </a:lnSpc>
              <a:spcBef>
                <a:spcPts val="310"/>
              </a:spcBef>
            </a:pPr>
            <a:endParaRPr lang="en-US" sz="1000" dirty="0">
              <a:solidFill>
                <a:srgbClr val="FFFFFF"/>
              </a:solidFill>
              <a:latin typeface="Lab Grotesque Thin" panose="00000200000000000000" pitchFamily="50" charset="0"/>
              <a:cs typeface="Alibaba PuHuiTi 2.0 55 Regular" panose="00020600040101010101" pitchFamily="18" charset="-122"/>
            </a:endParaRPr>
          </a:p>
          <a:p>
            <a:pPr marL="12700">
              <a:lnSpc>
                <a:spcPct val="100000"/>
              </a:lnSpc>
              <a:spcBef>
                <a:spcPts val="310"/>
              </a:spcBef>
            </a:pPr>
            <a:r>
              <a:rPr lang="en-US" sz="1000" b="1" dirty="0">
                <a:solidFill>
                  <a:srgbClr val="FFFFFF"/>
                </a:solidFill>
                <a:latin typeface="Lab Grotesque Thin" panose="00000200000000000000" pitchFamily="50" charset="0"/>
                <a:cs typeface="Alibaba PuHuiTi 2.0 55 Regular" panose="00020600040101010101" pitchFamily="18" charset="-122"/>
              </a:rPr>
              <a:t>Quantic Holdings, Inc. dba Quantic School of Business and Technology</a:t>
            </a:r>
          </a:p>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Mailing Address: 712 H Street NE Suite 1802 Washington, DC 20002</a:t>
            </a:r>
          </a:p>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Office Address: 80 M Street SE Suite 2-196 Washington, DC 20003</a:t>
            </a:r>
            <a:endParaRPr lang="zh-CN" altLang="en-US" sz="1000" dirty="0">
              <a:latin typeface="Lab Grotesque Thin" panose="00000200000000000000" pitchFamily="50" charset="0"/>
              <a:cs typeface="Alibaba PuHuiTi 2.0 55 Regular" panose="00020600040101010101" pitchFamily="18" charset="-122"/>
            </a:endParaRPr>
          </a:p>
        </p:txBody>
      </p:sp>
      <p:pic>
        <p:nvPicPr>
          <p:cNvPr id="7" name="Picture 6" descr="A white logo on a black background&#10;&#10;Description automatically generated with low confidence">
            <a:extLst>
              <a:ext uri="{FF2B5EF4-FFF2-40B4-BE49-F238E27FC236}">
                <a16:creationId xmlns:a16="http://schemas.microsoft.com/office/drawing/2014/main" id="{82A929FD-D26F-83BA-579A-54941A22770B}"/>
              </a:ext>
            </a:extLst>
          </p:cNvPr>
          <p:cNvPicPr>
            <a:picLocks noGrp="1" noRot="1" noChangeAspect="1" noMove="1" noResize="1" noEditPoints="1" noAdjustHandles="1" noChangeArrowheads="1" noChangeShapeType="1" noCrop="1"/>
          </p:cNvPicPr>
          <p:nvPr userDrawn="1"/>
        </p:nvPicPr>
        <p:blipFill rotWithShape="1">
          <a:blip r:embed="rId2" cstate="print">
            <a:extLst>
              <a:ext uri="{28A0092B-C50C-407E-A947-70E740481C1C}">
                <a14:useLocalDpi xmlns:a14="http://schemas.microsoft.com/office/drawing/2010/main" val="0"/>
              </a:ext>
            </a:extLst>
          </a:blip>
          <a:srcRect l="10133" t="20553" r="9375" b="23470"/>
          <a:stretch/>
        </p:blipFill>
        <p:spPr>
          <a:xfrm>
            <a:off x="741781" y="3985067"/>
            <a:ext cx="1847254" cy="591386"/>
          </a:xfrm>
          <a:prstGeom prst="rect">
            <a:avLst/>
          </a:prstGeom>
        </p:spPr>
      </p:pic>
      <p:sp>
        <p:nvSpPr>
          <p:cNvPr id="10" name="TextBox 9">
            <a:extLst>
              <a:ext uri="{FF2B5EF4-FFF2-40B4-BE49-F238E27FC236}">
                <a16:creationId xmlns:a16="http://schemas.microsoft.com/office/drawing/2014/main" id="{7ADA6CE3-AE47-BAC4-0A35-93CADF0CCCEC}"/>
              </a:ext>
            </a:extLst>
          </p:cNvPr>
          <p:cNvSpPr txBox="1">
            <a:spLocks noGrp="1" noRot="1" noMove="1" noResize="1" noEditPoints="1" noAdjustHandles="1" noChangeArrowheads="1" noChangeShapeType="1"/>
          </p:cNvSpPr>
          <p:nvPr userDrawn="1"/>
        </p:nvSpPr>
        <p:spPr>
          <a:xfrm>
            <a:off x="10377995" y="6217364"/>
            <a:ext cx="1290669" cy="153888"/>
          </a:xfrm>
          <a:prstGeom prst="rect">
            <a:avLst/>
          </a:prstGeom>
          <a:noFill/>
        </p:spPr>
        <p:txBody>
          <a:bodyPr wrap="square" lIns="0" tIns="0" rIns="0" bIns="0">
            <a:spAutoFit/>
          </a:bodyPr>
          <a:lstStyle/>
          <a:p>
            <a:pPr algn="r"/>
            <a:r>
              <a:rPr lang="en-US" sz="1000" b="0" i="0" u="none" strike="noStrike" baseline="0" dirty="0">
                <a:solidFill>
                  <a:schemeClr val="bg1"/>
                </a:solidFill>
                <a:latin typeface="Lab Grotesque Thin" panose="00000200000000000000" pitchFamily="50" charset="0"/>
                <a:cs typeface="Aharoni" panose="02010803020104030203" pitchFamily="2" charset="-79"/>
              </a:rPr>
              <a:t>quantic.edu</a:t>
            </a:r>
            <a:endParaRPr lang="en-GB" sz="1000" b="0" dirty="0">
              <a:solidFill>
                <a:schemeClr val="bg1"/>
              </a:solidFill>
              <a:latin typeface="Lab Grotesque Thin" panose="00000200000000000000" pitchFamily="50" charset="0"/>
              <a:cs typeface="Aharoni" panose="02010803020104030203" pitchFamily="2" charset="-79"/>
            </a:endParaRPr>
          </a:p>
        </p:txBody>
      </p:sp>
    </p:spTree>
    <p:extLst>
      <p:ext uri="{BB962C8B-B14F-4D97-AF65-F5344CB8AC3E}">
        <p14:creationId xmlns:p14="http://schemas.microsoft.com/office/powerpoint/2010/main" val="39539519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6_Title Only">
    <p:bg>
      <p:bgPr>
        <a:solidFill>
          <a:srgbClr val="FF4D6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6402-E32F-770C-B6B2-3A039DF07DBA}"/>
              </a:ext>
            </a:extLst>
          </p:cNvPr>
          <p:cNvSpPr>
            <a:spLocks noGrp="1"/>
          </p:cNvSpPr>
          <p:nvPr>
            <p:ph type="title"/>
          </p:nvPr>
        </p:nvSpPr>
        <p:spPr>
          <a:xfrm>
            <a:off x="923746" y="1562909"/>
            <a:ext cx="5827862" cy="1849470"/>
          </a:xfrm>
          <a:prstGeom prst="rect">
            <a:avLst/>
          </a:prstGeom>
        </p:spPr>
        <p:txBody>
          <a:bodyPr lIns="0" tIns="0" rIns="0" bIns="0"/>
          <a:lstStyle>
            <a:lvl1pPr algn="l">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Tree>
    <p:extLst>
      <p:ext uri="{BB962C8B-B14F-4D97-AF65-F5344CB8AC3E}">
        <p14:creationId xmlns:p14="http://schemas.microsoft.com/office/powerpoint/2010/main" val="380218546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oleObject" Target="../embeddings/oleObject1.bin"/><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ags" Target="../tags/tag1.xml"/><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emf"/><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891E721-E189-1483-23D2-0B7BC9C82551}"/>
              </a:ext>
            </a:extLst>
          </p:cNvPr>
          <p:cNvGraphicFramePr>
            <a:graphicFrameLocks noChangeAspect="1"/>
          </p:cNvGraphicFramePr>
          <p:nvPr userDrawn="1">
            <p:custDataLst>
              <p:tags r:id="rId17"/>
            </p:custDataLst>
            <p:extLst>
              <p:ext uri="{D42A27DB-BD31-4B8C-83A1-F6EECF244321}">
                <p14:modId xmlns:p14="http://schemas.microsoft.com/office/powerpoint/2010/main" val="3640913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395" imgH="396" progId="TCLayout.ActiveDocument.1">
                  <p:embed/>
                </p:oleObj>
              </mc:Choice>
              <mc:Fallback>
                <p:oleObj name="think-cell Slide" r:id="rId18" imgW="395" imgH="396" progId="TCLayout.ActiveDocument.1">
                  <p:embed/>
                  <p:pic>
                    <p:nvPicPr>
                      <p:cNvPr id="3" name="think-cell data - do not delete" hidden="1">
                        <a:extLst>
                          <a:ext uri="{FF2B5EF4-FFF2-40B4-BE49-F238E27FC236}">
                            <a16:creationId xmlns:a16="http://schemas.microsoft.com/office/drawing/2014/main" id="{6891E721-E189-1483-23D2-0B7BC9C82551}"/>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FCE8E3D-EE36-64A3-91C8-10BAC1950A5E}"/>
              </a:ext>
            </a:extLst>
          </p:cNvPr>
          <p:cNvSpPr txBox="1">
            <a:spLocks/>
          </p:cNvSpPr>
          <p:nvPr userDrawn="1"/>
        </p:nvSpPr>
        <p:spPr>
          <a:xfrm>
            <a:off x="594360" y="228600"/>
            <a:ext cx="11369040" cy="762000"/>
          </a:xfrm>
          <a:prstGeom prst="rect">
            <a:avLst/>
          </a:prstGeom>
        </p:spPr>
        <p:txBody>
          <a:bodyPr lIns="0" tIns="0" rIns="0" bIns="0"/>
          <a:lstStyle>
            <a:lvl1pPr algn="l" defTabSz="914400" rtl="0" eaLnBrk="1" latinLnBrk="0" hangingPunct="1">
              <a:lnSpc>
                <a:spcPct val="90000"/>
              </a:lnSpc>
              <a:spcBef>
                <a:spcPct val="0"/>
              </a:spcBef>
              <a:buNone/>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a:t>Click to edit Master title style</a:t>
            </a:r>
            <a:endParaRPr lang="en-US" dirty="0"/>
          </a:p>
        </p:txBody>
      </p:sp>
      <p:sp>
        <p:nvSpPr>
          <p:cNvPr id="5" name="TextBox 4">
            <a:extLst>
              <a:ext uri="{FF2B5EF4-FFF2-40B4-BE49-F238E27FC236}">
                <a16:creationId xmlns:a16="http://schemas.microsoft.com/office/drawing/2014/main" id="{EE007049-883A-91CD-46FF-267DB529EDC3}"/>
              </a:ext>
            </a:extLst>
          </p:cNvPr>
          <p:cNvSpPr txBox="1"/>
          <p:nvPr userDrawn="1">
            <p:extLst>
              <p:ext uri="{1162E1C5-73C7-4A58-AE30-91384D911F3F}">
                <p184:classification xmlns:p184="http://schemas.microsoft.com/office/powerpoint/2018/4/main" val="ftr"/>
              </p:ext>
            </p:extLst>
          </p:nvPr>
        </p:nvSpPr>
        <p:spPr>
          <a:xfrm>
            <a:off x="63500" y="6642100"/>
            <a:ext cx="1300163"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Sensitivity: MTN Internal</a:t>
            </a:r>
          </a:p>
        </p:txBody>
      </p:sp>
    </p:spTree>
    <p:extLst>
      <p:ext uri="{BB962C8B-B14F-4D97-AF65-F5344CB8AC3E}">
        <p14:creationId xmlns:p14="http://schemas.microsoft.com/office/powerpoint/2010/main" val="74384066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3840">
          <p15:clr>
            <a:srgbClr val="F26B43"/>
          </p15:clr>
        </p15:guide>
        <p15:guide id="3" pos="3696">
          <p15:clr>
            <a:srgbClr val="F26B43"/>
          </p15:clr>
        </p15:guide>
        <p15:guide id="4" pos="3984">
          <p15:clr>
            <a:srgbClr val="F26B43"/>
          </p15:clr>
        </p15:guide>
        <p15:guide id="5" pos="144">
          <p15:clr>
            <a:srgbClr val="F26B43"/>
          </p15:clr>
        </p15:guide>
        <p15:guide id="6" pos="7536">
          <p15:clr>
            <a:srgbClr val="F26B43"/>
          </p15:clr>
        </p15:guide>
        <p15:guide id="7" orient="horz" pos="624">
          <p15:clr>
            <a:srgbClr val="F26B43"/>
          </p15:clr>
        </p15:guide>
        <p15:guide id="8" orient="horz" pos="672">
          <p15:clr>
            <a:srgbClr val="F26B43"/>
          </p15:clr>
        </p15:guide>
        <p15:guide id="9" orient="horz" pos="3912">
          <p15:clr>
            <a:srgbClr val="F26B43"/>
          </p15:clr>
        </p15:guide>
        <p15:guide id="10" orient="horz" pos="3960">
          <p15:clr>
            <a:srgbClr val="F26B43"/>
          </p15:clr>
        </p15:guide>
        <p15:guide id="11" orient="horz" pos="420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10.jpeg"/><Relationship Id="rId5" Type="http://schemas.openxmlformats.org/officeDocument/2006/relationships/image" Target="../media/image1.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dineom-arch/Quantic_Web_App_Design_Project_Dineo_Malatji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hyperlink" Target="http://localhost:300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code.visualstudio.com/Docs" TargetMode="External"/><Relationship Id="rId3" Type="http://schemas.openxmlformats.org/officeDocument/2006/relationships/hyperlink" Target="https://uploads.smart.ly/emails/Projects/MSSE/MSEE_Web_Application_and_Interface_Design_Cafe_Fausse_SRS.pdf" TargetMode="External"/><Relationship Id="rId7" Type="http://schemas.openxmlformats.org/officeDocument/2006/relationships/hyperlink" Target="https://vite.dev/" TargetMode="External"/><Relationship Id="rId12" Type="http://schemas.openxmlformats.org/officeDocument/2006/relationships/hyperlink" Target="https://openai.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postgresql.org/docs/" TargetMode="External"/><Relationship Id="rId11" Type="http://schemas.openxmlformats.org/officeDocument/2006/relationships/hyperlink" Target="https://chatgpt.com/" TargetMode="External"/><Relationship Id="rId5" Type="http://schemas.openxmlformats.org/officeDocument/2006/relationships/hyperlink" Target="https://flask.palletsprojects.com/" TargetMode="External"/><Relationship Id="rId10" Type="http://schemas.openxmlformats.org/officeDocument/2006/relationships/hyperlink" Target="https://docs.github.com/en/copilot" TargetMode="External"/><Relationship Id="rId4" Type="http://schemas.openxmlformats.org/officeDocument/2006/relationships/hyperlink" Target="https://react.dev/" TargetMode="External"/><Relationship Id="rId9" Type="http://schemas.openxmlformats.org/officeDocument/2006/relationships/hyperlink" Target="https://github.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D88FDEB-5138-B2A0-E0D3-CF6D4B51824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3" name="think-cell data - do not delete" hidden="1">
                        <a:extLst>
                          <a:ext uri="{FF2B5EF4-FFF2-40B4-BE49-F238E27FC236}">
                            <a16:creationId xmlns:a16="http://schemas.microsoft.com/office/drawing/2014/main" id="{ED88FDEB-5138-B2A0-E0D3-CF6D4B5182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26" name="Picture 2">
            <a:extLst>
              <a:ext uri="{FF2B5EF4-FFF2-40B4-BE49-F238E27FC236}">
                <a16:creationId xmlns:a16="http://schemas.microsoft.com/office/drawing/2014/main" id="{B71794ED-71D7-1AED-3869-850F1CBC131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6200000">
            <a:off x="2667001" y="-2667000"/>
            <a:ext cx="6857999" cy="1219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4DF62CE3-9CD2-EC80-EF60-3D7F27FA13CA}"/>
              </a:ext>
            </a:extLst>
          </p:cNvPr>
          <p:cNvSpPr>
            <a:spLocks noGrp="1"/>
          </p:cNvSpPr>
          <p:nvPr>
            <p:ph type="title"/>
          </p:nvPr>
        </p:nvSpPr>
        <p:spPr/>
        <p:txBody>
          <a:bodyPr vert="horz"/>
          <a:lstStyle/>
          <a:p>
            <a:r>
              <a:rPr lang="en-US" b="1" dirty="0"/>
              <a:t>Identity Verification – Dineo Malatjie</a:t>
            </a:r>
          </a:p>
        </p:txBody>
      </p:sp>
    </p:spTree>
    <p:extLst>
      <p:ext uri="{BB962C8B-B14F-4D97-AF65-F5344CB8AC3E}">
        <p14:creationId xmlns:p14="http://schemas.microsoft.com/office/powerpoint/2010/main" val="1428926893"/>
      </p:ext>
    </p:extLst>
  </p:cSld>
  <p:clrMapOvr>
    <a:masterClrMapping/>
  </p:clrMapOvr>
  <mc:AlternateContent xmlns:mc="http://schemas.openxmlformats.org/markup-compatibility/2006" xmlns:p14="http://schemas.microsoft.com/office/powerpoint/2010/main">
    <mc:Choice Requires="p14">
      <p:transition spd="slow" p14:dur="2000" advTm="18099"/>
    </mc:Choice>
    <mc:Fallback xmlns="">
      <p:transition spd="slow" advTm="1809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2" name="cover-overlay">
            <a:extLst>
              <a:ext uri="{FF2B5EF4-FFF2-40B4-BE49-F238E27FC236}">
                <a16:creationId xmlns:a16="http://schemas.microsoft.com/office/drawing/2014/main" id="{963B471B-4D28-410A-8F0A-00F661366B4D}"/>
              </a:ext>
            </a:extLst>
          </p:cNvPr>
          <p:cNvSpPr>
            <a:spLocks noGrp="1"/>
          </p:cNvSpPr>
          <p:nvPr/>
        </p:nvSpPr>
        <p:spPr>
          <a:xfrm>
            <a:off x="0" y="0"/>
            <a:ext cx="12192000" cy="6858000"/>
          </a:xfrm>
          <a:prstGeom prst="rect">
            <a:avLst/>
          </a:prstGeom>
          <a:solidFill>
            <a:srgbClr val="000000">
              <a:alpha val="58000"/>
            </a:srgbClr>
          </a:solidFill>
          <a:ln w="0">
            <a:noFill/>
            <a:prstDash val="solid"/>
          </a:ln>
        </p:spPr>
        <p:txBody>
          <a:bodyPr/>
          <a:lstStyle/>
          <a:p>
            <a:endParaRPr lang="en-ZA"/>
          </a:p>
        </p:txBody>
      </p:sp>
      <p:sp>
        <p:nvSpPr>
          <p:cNvPr id="3" name="cover-gold-rule">
            <a:extLst>
              <a:ext uri="{FF2B5EF4-FFF2-40B4-BE49-F238E27FC236}">
                <a16:creationId xmlns:a16="http://schemas.microsoft.com/office/drawing/2014/main" id="{923605DC-C2D4-4B6B-AA88-CCDD4EBC970A}"/>
              </a:ext>
            </a:extLst>
          </p:cNvPr>
          <p:cNvSpPr>
            <a:spLocks noGrp="1"/>
          </p:cNvSpPr>
          <p:nvPr/>
        </p:nvSpPr>
        <p:spPr>
          <a:xfrm>
            <a:off x="685800" y="838200"/>
            <a:ext cx="1476375" cy="47625"/>
          </a:xfrm>
          <a:prstGeom prst="rect">
            <a:avLst/>
          </a:prstGeom>
          <a:solidFill>
            <a:srgbClr val="A97417"/>
          </a:solidFill>
          <a:ln w="0">
            <a:noFill/>
            <a:prstDash val="solid"/>
          </a:ln>
        </p:spPr>
        <p:txBody>
          <a:bodyPr/>
          <a:lstStyle/>
          <a:p>
            <a:endParaRPr lang="en-ZA"/>
          </a:p>
        </p:txBody>
      </p:sp>
      <p:sp>
        <p:nvSpPr>
          <p:cNvPr id="4" name="cover-brand">
            <a:extLst>
              <a:ext uri="{FF2B5EF4-FFF2-40B4-BE49-F238E27FC236}">
                <a16:creationId xmlns:a16="http://schemas.microsoft.com/office/drawing/2014/main" id="{41FBD933-BCCA-4F9D-B446-04CA3726BADC}"/>
              </a:ext>
            </a:extLst>
          </p:cNvPr>
          <p:cNvSpPr>
            <a:spLocks noGrp="1"/>
          </p:cNvSpPr>
          <p:nvPr/>
        </p:nvSpPr>
        <p:spPr>
          <a:xfrm>
            <a:off x="685800" y="1066800"/>
            <a:ext cx="5524500" cy="781050"/>
          </a:xfrm>
          <a:prstGeom prst="rect">
            <a:avLst/>
          </a:prstGeom>
          <a:noFill/>
          <a:ln w="0">
            <a:noFill/>
            <a:prstDash val="solid"/>
          </a:ln>
        </p:spPr>
        <p:txBody>
          <a:bodyPr anchor="ctr"/>
          <a:lstStyle/>
          <a:p>
            <a:pPr algn="l">
              <a:lnSpc>
                <a:spcPct val="105000"/>
              </a:lnSpc>
              <a:buNone/>
              <a:defRPr sz="4650" b="1" i="0">
                <a:solidFill>
                  <a:srgbClr val="FFFFFF"/>
                </a:solidFill>
                <a:latin typeface="Playfair Display"/>
                <a:ea typeface="Playfair Display"/>
                <a:cs typeface="Playfair Display"/>
              </a:defRPr>
            </a:pPr>
            <a:r>
              <a:rPr sz="4650" b="1" i="0">
                <a:solidFill>
                  <a:srgbClr val="FFFFFF"/>
                </a:solidFill>
                <a:latin typeface="Playfair Display"/>
                <a:ea typeface="Playfair Display"/>
                <a:cs typeface="Playfair Display"/>
              </a:rPr>
              <a:t>CAFÉ FAUSSE</a:t>
            </a:r>
          </a:p>
        </p:txBody>
      </p:sp>
      <p:sp>
        <p:nvSpPr>
          <p:cNvPr id="5" name="cover-tagline">
            <a:extLst>
              <a:ext uri="{FF2B5EF4-FFF2-40B4-BE49-F238E27FC236}">
                <a16:creationId xmlns:a16="http://schemas.microsoft.com/office/drawing/2014/main" id="{121FA89B-118C-47C9-A754-CD8229FFA957}"/>
              </a:ext>
            </a:extLst>
          </p:cNvPr>
          <p:cNvSpPr>
            <a:spLocks noGrp="1"/>
          </p:cNvSpPr>
          <p:nvPr/>
        </p:nvSpPr>
        <p:spPr>
          <a:xfrm>
            <a:off x="723900" y="1905000"/>
            <a:ext cx="4762500" cy="266700"/>
          </a:xfrm>
          <a:prstGeom prst="rect">
            <a:avLst/>
          </a:prstGeom>
          <a:noFill/>
          <a:ln w="0">
            <a:noFill/>
            <a:prstDash val="solid"/>
          </a:ln>
        </p:spPr>
        <p:txBody>
          <a:bodyPr anchor="ctr"/>
          <a:lstStyle/>
          <a:p>
            <a:pPr algn="l">
              <a:lnSpc>
                <a:spcPct val="105000"/>
              </a:lnSpc>
              <a:buNone/>
              <a:defRPr sz="1050" b="1" i="0">
                <a:solidFill>
                  <a:srgbClr val="D4B77D"/>
                </a:solidFill>
                <a:latin typeface="Inter"/>
                <a:ea typeface="Inter"/>
                <a:cs typeface="Inter"/>
              </a:defRPr>
            </a:pPr>
            <a:r>
              <a:rPr sz="1050" b="1" i="0">
                <a:solidFill>
                  <a:srgbClr val="D4B77D"/>
                </a:solidFill>
                <a:latin typeface="Inter"/>
                <a:ea typeface="Inter"/>
                <a:cs typeface="Inter"/>
              </a:rPr>
              <a:t>FINE DINING &amp; SEASONAL ELEGANCE</a:t>
            </a:r>
          </a:p>
        </p:txBody>
      </p:sp>
      <p:sp>
        <p:nvSpPr>
          <p:cNvPr id="6" name="cover-title">
            <a:extLst>
              <a:ext uri="{FF2B5EF4-FFF2-40B4-BE49-F238E27FC236}">
                <a16:creationId xmlns:a16="http://schemas.microsoft.com/office/drawing/2014/main" id="{72988257-0A7E-466F-B387-47D30FDFCC4F}"/>
              </a:ext>
            </a:extLst>
          </p:cNvPr>
          <p:cNvSpPr>
            <a:spLocks noGrp="1"/>
          </p:cNvSpPr>
          <p:nvPr/>
        </p:nvSpPr>
        <p:spPr>
          <a:xfrm>
            <a:off x="685800" y="3905250"/>
            <a:ext cx="6572250" cy="723900"/>
          </a:xfrm>
          <a:prstGeom prst="rect">
            <a:avLst/>
          </a:prstGeom>
          <a:noFill/>
          <a:ln w="0">
            <a:noFill/>
            <a:prstDash val="solid"/>
          </a:ln>
        </p:spPr>
        <p:txBody>
          <a:bodyPr anchor="ctr"/>
          <a:lstStyle/>
          <a:p>
            <a:pPr algn="l">
              <a:lnSpc>
                <a:spcPct val="105000"/>
              </a:lnSpc>
              <a:buNone/>
              <a:defRPr sz="4050" b="0" i="0">
                <a:solidFill>
                  <a:srgbClr val="FFFFFF"/>
                </a:solidFill>
                <a:latin typeface="Playfair Display"/>
                <a:ea typeface="Playfair Display"/>
                <a:cs typeface="Playfair Display"/>
              </a:defRPr>
            </a:pPr>
            <a:r>
              <a:rPr sz="4050" b="0" i="0">
                <a:solidFill>
                  <a:srgbClr val="FFFFFF"/>
                </a:solidFill>
                <a:latin typeface="Playfair Display"/>
                <a:ea typeface="Playfair Display"/>
                <a:cs typeface="Playfair Display"/>
              </a:rPr>
              <a:t>Restaurant Platform</a:t>
            </a:r>
          </a:p>
        </p:txBody>
      </p:sp>
      <p:sp>
        <p:nvSpPr>
          <p:cNvPr id="7" name="cover-subtitle">
            <a:extLst>
              <a:ext uri="{FF2B5EF4-FFF2-40B4-BE49-F238E27FC236}">
                <a16:creationId xmlns:a16="http://schemas.microsoft.com/office/drawing/2014/main" id="{ACE65C1A-FCEF-430B-95B1-6B522F173175}"/>
              </a:ext>
            </a:extLst>
          </p:cNvPr>
          <p:cNvSpPr>
            <a:spLocks noGrp="1"/>
          </p:cNvSpPr>
          <p:nvPr/>
        </p:nvSpPr>
        <p:spPr>
          <a:xfrm>
            <a:off x="723900" y="4714875"/>
            <a:ext cx="6191250" cy="400050"/>
          </a:xfrm>
          <a:prstGeom prst="rect">
            <a:avLst/>
          </a:prstGeom>
          <a:noFill/>
          <a:ln w="0">
            <a:noFill/>
            <a:prstDash val="solid"/>
          </a:ln>
        </p:spPr>
        <p:txBody>
          <a:bodyPr anchor="ctr"/>
          <a:lstStyle/>
          <a:p>
            <a:pPr algn="l">
              <a:lnSpc>
                <a:spcPct val="105000"/>
              </a:lnSpc>
              <a:buNone/>
              <a:defRPr sz="1650" b="0" i="0">
                <a:solidFill>
                  <a:srgbClr val="FFFFFF">
                    <a:alpha val="82000"/>
                  </a:srgbClr>
                </a:solidFill>
                <a:latin typeface="Inter"/>
                <a:ea typeface="Inter"/>
                <a:cs typeface="Inter"/>
              </a:defRPr>
            </a:pPr>
            <a:r>
              <a:rPr sz="1650" b="0" i="0">
                <a:solidFill>
                  <a:srgbClr val="FFFFFF">
                    <a:alpha val="82000"/>
                  </a:srgbClr>
                </a:solidFill>
                <a:latin typeface="Inter"/>
                <a:ea typeface="Inter"/>
                <a:cs typeface="Inter"/>
              </a:rPr>
              <a:t>Full-stack web application design and implementation</a:t>
            </a:r>
          </a:p>
        </p:txBody>
      </p:sp>
      <p:sp>
        <p:nvSpPr>
          <p:cNvPr id="8" name="cover-author">
            <a:extLst>
              <a:ext uri="{FF2B5EF4-FFF2-40B4-BE49-F238E27FC236}">
                <a16:creationId xmlns:a16="http://schemas.microsoft.com/office/drawing/2014/main" id="{4B84156D-C375-4328-9253-CCAE8CA2A32C}"/>
              </a:ext>
            </a:extLst>
          </p:cNvPr>
          <p:cNvSpPr>
            <a:spLocks noGrp="1"/>
          </p:cNvSpPr>
          <p:nvPr/>
        </p:nvSpPr>
        <p:spPr>
          <a:xfrm>
            <a:off x="723900" y="5981700"/>
            <a:ext cx="7239000" cy="266700"/>
          </a:xfrm>
          <a:prstGeom prst="rect">
            <a:avLst/>
          </a:prstGeom>
          <a:noFill/>
          <a:ln w="0">
            <a:noFill/>
            <a:prstDash val="solid"/>
          </a:ln>
        </p:spPr>
        <p:txBody>
          <a:bodyPr anchor="ctr"/>
          <a:lstStyle/>
          <a:p>
            <a:pPr algn="l">
              <a:lnSpc>
                <a:spcPct val="105000"/>
              </a:lnSpc>
              <a:buNone/>
              <a:defRPr sz="1125" b="0" i="0">
                <a:solidFill>
                  <a:srgbClr val="FFFFFF">
                    <a:alpha val="75000"/>
                  </a:srgbClr>
                </a:solidFill>
                <a:latin typeface="Inter"/>
                <a:ea typeface="Inter"/>
                <a:cs typeface="Inter"/>
              </a:defRPr>
            </a:pPr>
            <a:r>
              <a:rPr sz="1125" b="0" i="0">
                <a:solidFill>
                  <a:srgbClr val="FFFFFF">
                    <a:alpha val="75000"/>
                  </a:srgbClr>
                </a:solidFill>
                <a:latin typeface="Inter"/>
                <a:ea typeface="Inter"/>
                <a:cs typeface="Inter"/>
              </a:rPr>
              <a:t>Dineo Malatjie  |  MSc Artificial Intelligence Engineering  |  2026</a:t>
            </a:r>
          </a:p>
        </p:txBody>
      </p:sp>
    </p:spTree>
    <p:extLst>
      <p:ext uri="{BB962C8B-B14F-4D97-AF65-F5344CB8AC3E}">
        <p14:creationId xmlns:p14="http://schemas.microsoft.com/office/powerpoint/2010/main" val="86184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brand">
            <a:extLst>
              <a:ext uri="{FF2B5EF4-FFF2-40B4-BE49-F238E27FC236}">
                <a16:creationId xmlns:a16="http://schemas.microsoft.com/office/drawing/2014/main" id="{433220C0-659C-4062-9487-3EEF9420C615}"/>
              </a:ext>
            </a:extLst>
          </p:cNvPr>
          <p:cNvSpPr>
            <a:spLocks noGrp="1"/>
          </p:cNvSpPr>
          <p:nvPr/>
        </p:nvSpPr>
        <p:spPr>
          <a:xfrm>
            <a:off x="647700" y="323850"/>
            <a:ext cx="2952750" cy="3619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CAFÉ FAUSSE</a:t>
            </a:r>
          </a:p>
        </p:txBody>
      </p:sp>
      <p:sp>
        <p:nvSpPr>
          <p:cNvPr id="2" name="brand-tagline">
            <a:extLst>
              <a:ext uri="{FF2B5EF4-FFF2-40B4-BE49-F238E27FC236}">
                <a16:creationId xmlns:a16="http://schemas.microsoft.com/office/drawing/2014/main" id="{0CCD3178-EAB0-4FC5-9984-0F98F9C1F73E}"/>
              </a:ext>
            </a:extLst>
          </p:cNvPr>
          <p:cNvSpPr>
            <a:spLocks noGrp="1"/>
          </p:cNvSpPr>
          <p:nvPr/>
        </p:nvSpPr>
        <p:spPr>
          <a:xfrm>
            <a:off x="647700" y="666750"/>
            <a:ext cx="3905250" cy="209550"/>
          </a:xfrm>
          <a:prstGeom prst="rect">
            <a:avLst/>
          </a:prstGeom>
          <a:noFill/>
          <a:ln w="0">
            <a:noFill/>
            <a:prstDash val="solid"/>
          </a:ln>
        </p:spPr>
        <p:txBody>
          <a:bodyPr anchor="ctr"/>
          <a:lstStyle/>
          <a:p>
            <a:pPr algn="l">
              <a:lnSpc>
                <a:spcPct val="105000"/>
              </a:lnSpc>
              <a:buNone/>
              <a:defRPr sz="825" b="1" i="0">
                <a:solidFill>
                  <a:srgbClr val="A97417"/>
                </a:solidFill>
                <a:latin typeface="Inter"/>
                <a:ea typeface="Inter"/>
                <a:cs typeface="Inter"/>
              </a:defRPr>
            </a:pPr>
            <a:r>
              <a:rPr sz="825" b="1" i="0">
                <a:solidFill>
                  <a:srgbClr val="A97417"/>
                </a:solidFill>
                <a:latin typeface="Inter"/>
                <a:ea typeface="Inter"/>
                <a:cs typeface="Inter"/>
              </a:rPr>
              <a:t>FINE DINING &amp; SEASONAL ELEGANCE</a:t>
            </a:r>
          </a:p>
        </p:txBody>
      </p:sp>
      <p:sp>
        <p:nvSpPr>
          <p:cNvPr id="3" name="summary-eyebrow">
            <a:extLst>
              <a:ext uri="{FF2B5EF4-FFF2-40B4-BE49-F238E27FC236}">
                <a16:creationId xmlns:a16="http://schemas.microsoft.com/office/drawing/2014/main" id="{415B0B39-3780-451E-91A4-F6D0C534FF0D}"/>
              </a:ext>
            </a:extLst>
          </p:cNvPr>
          <p:cNvSpPr>
            <a:spLocks noGrp="1"/>
          </p:cNvSpPr>
          <p:nvPr/>
        </p:nvSpPr>
        <p:spPr>
          <a:xfrm>
            <a:off x="647700" y="1238250"/>
            <a:ext cx="3048000" cy="266700"/>
          </a:xfrm>
          <a:prstGeom prst="rect">
            <a:avLst/>
          </a:prstGeom>
          <a:noFill/>
          <a:ln w="0">
            <a:noFill/>
            <a:prstDash val="solid"/>
          </a:ln>
        </p:spPr>
        <p:txBody>
          <a:bodyPr anchor="ctr"/>
          <a:lstStyle/>
          <a:p>
            <a:pPr algn="l">
              <a:lnSpc>
                <a:spcPct val="105000"/>
              </a:lnSpc>
              <a:buNone/>
              <a:defRPr sz="1050" b="1" i="0">
                <a:solidFill>
                  <a:srgbClr val="A97417"/>
                </a:solidFill>
                <a:latin typeface="Inter"/>
                <a:ea typeface="Inter"/>
                <a:cs typeface="Inter"/>
              </a:defRPr>
            </a:pPr>
            <a:r>
              <a:rPr sz="1050" b="1" i="0">
                <a:solidFill>
                  <a:srgbClr val="A97417"/>
                </a:solidFill>
                <a:latin typeface="Inter"/>
                <a:ea typeface="Inter"/>
                <a:cs typeface="Inter"/>
              </a:rPr>
              <a:t>PROJECT SUMMARY</a:t>
            </a:r>
          </a:p>
        </p:txBody>
      </p:sp>
      <p:sp>
        <p:nvSpPr>
          <p:cNvPr id="4" name="summary-title">
            <a:extLst>
              <a:ext uri="{FF2B5EF4-FFF2-40B4-BE49-F238E27FC236}">
                <a16:creationId xmlns:a16="http://schemas.microsoft.com/office/drawing/2014/main" id="{19336E8A-5AD9-4503-9C1F-B38C78011DB3}"/>
              </a:ext>
            </a:extLst>
          </p:cNvPr>
          <p:cNvSpPr>
            <a:spLocks noGrp="1"/>
          </p:cNvSpPr>
          <p:nvPr/>
        </p:nvSpPr>
        <p:spPr>
          <a:xfrm>
            <a:off x="647700" y="1638300"/>
            <a:ext cx="5381625" cy="1619250"/>
          </a:xfrm>
          <a:prstGeom prst="rect">
            <a:avLst/>
          </a:prstGeom>
          <a:noFill/>
          <a:ln w="0">
            <a:noFill/>
            <a:prstDash val="solid"/>
          </a:ln>
        </p:spPr>
        <p:txBody>
          <a:bodyPr anchor="ctr"/>
          <a:lstStyle/>
          <a:p>
            <a:pPr algn="l">
              <a:lnSpc>
                <a:spcPct val="92000"/>
              </a:lnSpc>
              <a:buNone/>
              <a:defRPr sz="3150" b="1" i="0">
                <a:solidFill>
                  <a:srgbClr val="111111"/>
                </a:solidFill>
                <a:latin typeface="Playfair Display"/>
                <a:ea typeface="Playfair Display"/>
                <a:cs typeface="Playfair Display"/>
              </a:defRPr>
            </a:pPr>
            <a:r>
              <a:rPr sz="3150" b="1" i="0">
                <a:solidFill>
                  <a:srgbClr val="111111"/>
                </a:solidFill>
                <a:latin typeface="Playfair Display"/>
                <a:ea typeface="Playfair Display"/>
                <a:cs typeface="Playfair Display"/>
              </a:rPr>
              <a:t>A refined digital experience,</a:t>
            </a:r>
          </a:p>
          <a:p>
            <a:pPr algn="l">
              <a:lnSpc>
                <a:spcPct val="92000"/>
              </a:lnSpc>
              <a:buNone/>
              <a:defRPr sz="3150" b="1" i="0">
                <a:solidFill>
                  <a:srgbClr val="111111"/>
                </a:solidFill>
                <a:latin typeface="Playfair Display"/>
                <a:ea typeface="Playfair Display"/>
                <a:cs typeface="Playfair Display"/>
              </a:defRPr>
            </a:pPr>
            <a:r>
              <a:rPr sz="3150" b="1" i="0">
                <a:solidFill>
                  <a:srgbClr val="111111"/>
                </a:solidFill>
                <a:latin typeface="Playfair Display"/>
                <a:ea typeface="Playfair Display"/>
                <a:cs typeface="Playfair Display"/>
              </a:rPr>
              <a:t>built as a working platform</a:t>
            </a:r>
          </a:p>
        </p:txBody>
      </p:sp>
      <p:sp>
        <p:nvSpPr>
          <p:cNvPr id="5" name="summary-body">
            <a:extLst>
              <a:ext uri="{FF2B5EF4-FFF2-40B4-BE49-F238E27FC236}">
                <a16:creationId xmlns:a16="http://schemas.microsoft.com/office/drawing/2014/main" id="{C7891FA5-5985-4683-ADE0-53EC0C5E0281}"/>
              </a:ext>
            </a:extLst>
          </p:cNvPr>
          <p:cNvSpPr>
            <a:spLocks noGrp="1"/>
          </p:cNvSpPr>
          <p:nvPr/>
        </p:nvSpPr>
        <p:spPr>
          <a:xfrm>
            <a:off x="647700" y="3381375"/>
            <a:ext cx="5334000" cy="1466850"/>
          </a:xfrm>
          <a:prstGeom prst="rect">
            <a:avLst/>
          </a:prstGeom>
          <a:noFill/>
          <a:ln w="0">
            <a:noFill/>
            <a:prstDash val="solid"/>
          </a:ln>
        </p:spPr>
        <p:txBody>
          <a:bodyPr anchor="ctr"/>
          <a:lstStyle/>
          <a:p>
            <a:pPr algn="l">
              <a:lnSpc>
                <a:spcPct val="116000"/>
              </a:lnSpc>
              <a:buNone/>
              <a:defRPr sz="1350" b="0" i="0">
                <a:solidFill>
                  <a:srgbClr val="667085"/>
                </a:solidFill>
                <a:latin typeface="Inter"/>
                <a:ea typeface="Inter"/>
                <a:cs typeface="Inter"/>
              </a:defRPr>
            </a:pPr>
            <a:r>
              <a:rPr sz="1350" b="0" i="0">
                <a:solidFill>
                  <a:srgbClr val="667085"/>
                </a:solidFill>
                <a:latin typeface="Inter"/>
                <a:ea typeface="Inter"/>
                <a:cs typeface="Inter"/>
              </a:rPr>
              <a:t>Café Fausse is a responsive full-stack restaurant website connecting a React customer interface, Flask APIs and PostgreSQL data. Customers can explore the brand, browse a database-backed menu, reserve a table, order for collection, review a cart and checkout summary, and receive order confirmation.</a:t>
            </a:r>
          </a:p>
        </p:txBody>
      </p:sp>
      <p:sp>
        <p:nvSpPr>
          <p:cNvPr id="6" name="github-link">
            <a:extLst>
              <a:ext uri="{FF2B5EF4-FFF2-40B4-BE49-F238E27FC236}">
                <a16:creationId xmlns:a16="http://schemas.microsoft.com/office/drawing/2014/main" id="{432DFE00-5C6E-47EF-8B1D-C3A8B6B53DCA}"/>
              </a:ext>
            </a:extLst>
          </p:cNvPr>
          <p:cNvSpPr>
            <a:spLocks noGrp="1"/>
          </p:cNvSpPr>
          <p:nvPr/>
        </p:nvSpPr>
        <p:spPr>
          <a:xfrm>
            <a:off x="647700" y="5162550"/>
            <a:ext cx="2524125" cy="495300"/>
          </a:xfrm>
          <a:prstGeom prst="roundRect">
            <a:avLst>
              <a:gd name="adj" fmla="val 15385"/>
            </a:avLst>
          </a:prstGeom>
          <a:solidFill>
            <a:srgbClr val="FFFFFF"/>
          </a:solidFill>
          <a:ln w="9525">
            <a:solidFill>
              <a:srgbClr val="A97417">
                <a:alpha val="55000"/>
              </a:srgbClr>
            </a:solidFill>
            <a:prstDash val="solid"/>
          </a:ln>
        </p:spPr>
        <p:txBody>
          <a:bodyPr anchor="ctr"/>
          <a:lstStyle/>
          <a:p>
            <a:pPr algn="ctr">
              <a:defRPr sz="1500" b="1">
                <a:solidFill>
                  <a:srgbClr val="A97417"/>
                </a:solidFill>
                <a:latin typeface="Inter"/>
                <a:ea typeface="Inter"/>
                <a:cs typeface="Inter"/>
              </a:defRPr>
            </a:pPr>
            <a:r>
              <a:rPr sz="1500" b="1" u="sng">
                <a:solidFill>
                  <a:srgbClr val="A97417"/>
                </a:solidFill>
                <a:latin typeface="Inter"/>
                <a:ea typeface="Inter"/>
                <a:cs typeface="Inter"/>
                <a:hlinkClick r:id="rId3"/>
              </a:rPr>
              <a:t>Open GitHub repository ↗</a:t>
            </a:r>
          </a:p>
        </p:txBody>
      </p:sp>
      <p:sp>
        <p:nvSpPr>
          <p:cNvPr id="7" name="website-link">
            <a:extLst>
              <a:ext uri="{FF2B5EF4-FFF2-40B4-BE49-F238E27FC236}">
                <a16:creationId xmlns:a16="http://schemas.microsoft.com/office/drawing/2014/main" id="{39B2153E-5CE2-40B0-827A-64EABDC3EB11}"/>
              </a:ext>
            </a:extLst>
          </p:cNvPr>
          <p:cNvSpPr>
            <a:spLocks noGrp="1"/>
          </p:cNvSpPr>
          <p:nvPr/>
        </p:nvSpPr>
        <p:spPr>
          <a:xfrm>
            <a:off x="3333750" y="5162550"/>
            <a:ext cx="2238375" cy="495300"/>
          </a:xfrm>
          <a:prstGeom prst="roundRect">
            <a:avLst>
              <a:gd name="adj" fmla="val 15385"/>
            </a:avLst>
          </a:prstGeom>
          <a:solidFill>
            <a:srgbClr val="FFFFFF"/>
          </a:solidFill>
          <a:ln w="9525">
            <a:solidFill>
              <a:srgbClr val="A97417">
                <a:alpha val="55000"/>
              </a:srgbClr>
            </a:solidFill>
            <a:prstDash val="solid"/>
          </a:ln>
        </p:spPr>
        <p:txBody>
          <a:bodyPr anchor="ctr"/>
          <a:lstStyle/>
          <a:p>
            <a:pPr algn="ctr">
              <a:defRPr sz="1500" b="1">
                <a:solidFill>
                  <a:srgbClr val="A97417"/>
                </a:solidFill>
                <a:latin typeface="Inter"/>
                <a:ea typeface="Inter"/>
                <a:cs typeface="Inter"/>
              </a:defRPr>
            </a:pPr>
            <a:r>
              <a:rPr sz="1500" b="1" u="sng">
                <a:solidFill>
                  <a:srgbClr val="A97417"/>
                </a:solidFill>
                <a:latin typeface="Inter"/>
                <a:ea typeface="Inter"/>
                <a:cs typeface="Inter"/>
                <a:hlinkClick r:id="rId4"/>
              </a:rPr>
              <a:t>Open local website ↗</a:t>
            </a:r>
          </a:p>
        </p:txBody>
      </p:sp>
      <p:pic>
        <p:nvPicPr>
          <p:cNvPr id="20" name="Picture 19"/>
          <p:cNvPicPr>
            <a:picLocks noChangeAspect="1"/>
          </p:cNvPicPr>
          <p:nvPr/>
        </p:nvPicPr>
        <p:blipFill>
          <a:blip r:embed="rId5"/>
          <a:srcRect l="20065" r="20065"/>
          <a:stretch>
            <a:fillRect/>
          </a:stretch>
        </p:blipFill>
        <p:spPr>
          <a:xfrm>
            <a:off x="6619875" y="1190625"/>
            <a:ext cx="4924425" cy="4629150"/>
          </a:xfrm>
          <a:prstGeom prst="roundRect">
            <a:avLst>
              <a:gd name="adj" fmla="val 3292"/>
            </a:avLst>
          </a:prstGeom>
        </p:spPr>
      </p:pic>
      <p:sp>
        <p:nvSpPr>
          <p:cNvPr id="9" name="summary-image-rule">
            <a:extLst>
              <a:ext uri="{FF2B5EF4-FFF2-40B4-BE49-F238E27FC236}">
                <a16:creationId xmlns:a16="http://schemas.microsoft.com/office/drawing/2014/main" id="{F452682C-7C2B-4185-BAE1-F5E0DF63CE57}"/>
              </a:ext>
            </a:extLst>
          </p:cNvPr>
          <p:cNvSpPr>
            <a:spLocks noGrp="1"/>
          </p:cNvSpPr>
          <p:nvPr/>
        </p:nvSpPr>
        <p:spPr>
          <a:xfrm>
            <a:off x="6619875" y="1190625"/>
            <a:ext cx="76200" cy="4629150"/>
          </a:xfrm>
          <a:prstGeom prst="rect">
            <a:avLst/>
          </a:prstGeom>
          <a:solidFill>
            <a:srgbClr val="A97417"/>
          </a:solidFill>
          <a:ln w="0">
            <a:noFill/>
            <a:prstDash val="solid"/>
          </a:ln>
        </p:spPr>
        <p:txBody>
          <a:bodyPr/>
          <a:lstStyle/>
          <a:p>
            <a:endParaRPr lang="en-ZA"/>
          </a:p>
        </p:txBody>
      </p:sp>
      <p:sp>
        <p:nvSpPr>
          <p:cNvPr id="10" name="footer-rule-2">
            <a:extLst>
              <a:ext uri="{FF2B5EF4-FFF2-40B4-BE49-F238E27FC236}">
                <a16:creationId xmlns:a16="http://schemas.microsoft.com/office/drawing/2014/main" id="{ABB37058-8D4B-42FC-88E4-81F087D1A7EA}"/>
              </a:ext>
            </a:extLst>
          </p:cNvPr>
          <p:cNvSpPr>
            <a:spLocks noGrp="1"/>
          </p:cNvSpPr>
          <p:nvPr/>
        </p:nvSpPr>
        <p:spPr>
          <a:xfrm>
            <a:off x="647700" y="6419850"/>
            <a:ext cx="10896600" cy="19050"/>
          </a:xfrm>
          <a:prstGeom prst="rect">
            <a:avLst/>
          </a:prstGeom>
          <a:solidFill>
            <a:srgbClr val="A97417">
              <a:alpha val="35000"/>
            </a:srgbClr>
          </a:solidFill>
          <a:ln w="0">
            <a:noFill/>
            <a:prstDash val="solid"/>
          </a:ln>
        </p:spPr>
        <p:txBody>
          <a:bodyPr/>
          <a:lstStyle/>
          <a:p>
            <a:endParaRPr lang="en-ZA"/>
          </a:p>
        </p:txBody>
      </p:sp>
      <p:sp>
        <p:nvSpPr>
          <p:cNvPr id="11" name="footer-label-2">
            <a:extLst>
              <a:ext uri="{FF2B5EF4-FFF2-40B4-BE49-F238E27FC236}">
                <a16:creationId xmlns:a16="http://schemas.microsoft.com/office/drawing/2014/main" id="{80F1E188-98E5-4E10-9BC5-939027B05BAA}"/>
              </a:ext>
            </a:extLst>
          </p:cNvPr>
          <p:cNvSpPr>
            <a:spLocks noGrp="1"/>
          </p:cNvSpPr>
          <p:nvPr/>
        </p:nvSpPr>
        <p:spPr>
          <a:xfrm>
            <a:off x="647700" y="6477000"/>
            <a:ext cx="4191000" cy="190500"/>
          </a:xfrm>
          <a:prstGeom prst="rect">
            <a:avLst/>
          </a:prstGeom>
          <a:noFill/>
          <a:ln w="0">
            <a:noFill/>
            <a:prstDash val="solid"/>
          </a:ln>
        </p:spPr>
        <p:txBody>
          <a:bodyPr anchor="ctr"/>
          <a:lstStyle/>
          <a:p>
            <a:pPr algn="l">
              <a:lnSpc>
                <a:spcPct val="105000"/>
              </a:lnSpc>
              <a:buNone/>
              <a:defRPr sz="750" b="1" i="0">
                <a:solidFill>
                  <a:srgbClr val="667085"/>
                </a:solidFill>
                <a:latin typeface="Inter"/>
                <a:ea typeface="Inter"/>
                <a:cs typeface="Inter"/>
              </a:defRPr>
            </a:pPr>
            <a:r>
              <a:rPr sz="750" b="1" i="0">
                <a:solidFill>
                  <a:srgbClr val="667085"/>
                </a:solidFill>
                <a:latin typeface="Inter"/>
                <a:ea typeface="Inter"/>
                <a:cs typeface="Inter"/>
              </a:rPr>
              <a:t>CAFÉ FAUSSE RESTAURANT PLATFORM</a:t>
            </a:r>
          </a:p>
        </p:txBody>
      </p:sp>
      <p:sp>
        <p:nvSpPr>
          <p:cNvPr id="12" name="footer-number-2">
            <a:extLst>
              <a:ext uri="{FF2B5EF4-FFF2-40B4-BE49-F238E27FC236}">
                <a16:creationId xmlns:a16="http://schemas.microsoft.com/office/drawing/2014/main" id="{B180B9C9-6EAB-4696-A95E-4FCF48BA8612}"/>
              </a:ext>
            </a:extLst>
          </p:cNvPr>
          <p:cNvSpPr>
            <a:spLocks noGrp="1"/>
          </p:cNvSpPr>
          <p:nvPr/>
        </p:nvSpPr>
        <p:spPr>
          <a:xfrm>
            <a:off x="11049000" y="6477000"/>
            <a:ext cx="476250" cy="190500"/>
          </a:xfrm>
          <a:prstGeom prst="rect">
            <a:avLst/>
          </a:prstGeom>
          <a:noFill/>
          <a:ln w="0">
            <a:noFill/>
            <a:prstDash val="solid"/>
          </a:ln>
        </p:spPr>
        <p:txBody>
          <a:bodyPr anchor="ctr"/>
          <a:lstStyle/>
          <a:p>
            <a:pPr algn="r">
              <a:lnSpc>
                <a:spcPct val="105000"/>
              </a:lnSpc>
              <a:buNone/>
              <a:defRPr sz="750" b="1" i="0">
                <a:solidFill>
                  <a:srgbClr val="A97417"/>
                </a:solidFill>
                <a:latin typeface="Inter"/>
                <a:ea typeface="Inter"/>
                <a:cs typeface="Inter"/>
              </a:defRPr>
            </a:pPr>
            <a:r>
              <a:rPr sz="750" b="1" i="0">
                <a:solidFill>
                  <a:srgbClr val="A97417"/>
                </a:solidFill>
                <a:latin typeface="Inter"/>
                <a:ea typeface="Inter"/>
                <a:cs typeface="Inter"/>
              </a:rPr>
              <a:t>02</a:t>
            </a:r>
          </a:p>
        </p:txBody>
      </p:sp>
    </p:spTree>
    <p:extLst>
      <p:ext uri="{BB962C8B-B14F-4D97-AF65-F5344CB8AC3E}">
        <p14:creationId xmlns:p14="http://schemas.microsoft.com/office/powerpoint/2010/main" val="77503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27" b="27"/>
          <a:stretch>
            <a:fillRect/>
          </a:stretch>
        </p:blipFill>
        <p:spPr>
          <a:xfrm>
            <a:off x="0" y="0"/>
            <a:ext cx="12192000" cy="6858000"/>
          </a:xfrm>
          <a:prstGeom prst="rect">
            <a:avLst/>
          </a:prstGeom>
        </p:spPr>
      </p:pic>
      <p:sp>
        <p:nvSpPr>
          <p:cNvPr id="2" name="experience-overlay">
            <a:extLst>
              <a:ext uri="{FF2B5EF4-FFF2-40B4-BE49-F238E27FC236}">
                <a16:creationId xmlns:a16="http://schemas.microsoft.com/office/drawing/2014/main" id="{3A3B2EFD-046A-45F0-AFE3-1C89B7FAEB71}"/>
              </a:ext>
            </a:extLst>
          </p:cNvPr>
          <p:cNvSpPr>
            <a:spLocks noGrp="1"/>
          </p:cNvSpPr>
          <p:nvPr/>
        </p:nvSpPr>
        <p:spPr>
          <a:xfrm>
            <a:off x="0" y="0"/>
            <a:ext cx="12192000" cy="6858000"/>
          </a:xfrm>
          <a:prstGeom prst="rect">
            <a:avLst/>
          </a:prstGeom>
          <a:solidFill>
            <a:srgbClr val="000000">
              <a:alpha val="60000"/>
            </a:srgbClr>
          </a:solidFill>
          <a:ln w="0">
            <a:noFill/>
            <a:prstDash val="solid"/>
          </a:ln>
        </p:spPr>
        <p:txBody>
          <a:bodyPr/>
          <a:lstStyle/>
          <a:p>
            <a:endParaRPr lang="en-ZA"/>
          </a:p>
        </p:txBody>
      </p:sp>
      <p:sp>
        <p:nvSpPr>
          <p:cNvPr id="3" name="experience-number">
            <a:extLst>
              <a:ext uri="{FF2B5EF4-FFF2-40B4-BE49-F238E27FC236}">
                <a16:creationId xmlns:a16="http://schemas.microsoft.com/office/drawing/2014/main" id="{5D08179D-0DD7-4EF0-929C-CE2D67677EB9}"/>
              </a:ext>
            </a:extLst>
          </p:cNvPr>
          <p:cNvSpPr>
            <a:spLocks noGrp="1"/>
          </p:cNvSpPr>
          <p:nvPr/>
        </p:nvSpPr>
        <p:spPr>
          <a:xfrm>
            <a:off x="723900" y="1104900"/>
            <a:ext cx="1238250" cy="800100"/>
          </a:xfrm>
          <a:prstGeom prst="rect">
            <a:avLst/>
          </a:prstGeom>
          <a:noFill/>
          <a:ln w="0">
            <a:noFill/>
            <a:prstDash val="solid"/>
          </a:ln>
        </p:spPr>
        <p:txBody>
          <a:bodyPr anchor="ctr"/>
          <a:lstStyle/>
          <a:p>
            <a:pPr algn="l">
              <a:lnSpc>
                <a:spcPct val="105000"/>
              </a:lnSpc>
              <a:buNone/>
              <a:defRPr sz="4800" b="1" i="0">
                <a:solidFill>
                  <a:srgbClr val="D4B77D"/>
                </a:solidFill>
                <a:latin typeface="Playfair Display"/>
                <a:ea typeface="Playfair Display"/>
                <a:cs typeface="Playfair Display"/>
              </a:defRPr>
            </a:pPr>
            <a:r>
              <a:rPr sz="4800" b="1" i="0">
                <a:solidFill>
                  <a:srgbClr val="D4B77D"/>
                </a:solidFill>
                <a:latin typeface="Playfair Display"/>
                <a:ea typeface="Playfair Display"/>
                <a:cs typeface="Playfair Display"/>
              </a:rPr>
              <a:t>01</a:t>
            </a:r>
          </a:p>
        </p:txBody>
      </p:sp>
      <p:sp>
        <p:nvSpPr>
          <p:cNvPr id="4" name="experience-title">
            <a:extLst>
              <a:ext uri="{FF2B5EF4-FFF2-40B4-BE49-F238E27FC236}">
                <a16:creationId xmlns:a16="http://schemas.microsoft.com/office/drawing/2014/main" id="{8026362A-0FB2-4166-8735-B333BD9986CD}"/>
              </a:ext>
            </a:extLst>
          </p:cNvPr>
          <p:cNvSpPr>
            <a:spLocks noGrp="1"/>
          </p:cNvSpPr>
          <p:nvPr/>
        </p:nvSpPr>
        <p:spPr>
          <a:xfrm>
            <a:off x="685800" y="2143125"/>
            <a:ext cx="5524500" cy="1762125"/>
          </a:xfrm>
          <a:prstGeom prst="rect">
            <a:avLst/>
          </a:prstGeom>
          <a:noFill/>
          <a:ln w="0">
            <a:noFill/>
            <a:prstDash val="solid"/>
          </a:ln>
        </p:spPr>
        <p:txBody>
          <a:bodyPr anchor="ctr"/>
          <a:lstStyle/>
          <a:p>
            <a:pPr algn="l">
              <a:lnSpc>
                <a:spcPct val="90000"/>
              </a:lnSpc>
              <a:buNone/>
              <a:defRPr sz="5100" b="1" i="0">
                <a:solidFill>
                  <a:srgbClr val="FFFFFF"/>
                </a:solidFill>
                <a:latin typeface="Playfair Display"/>
                <a:ea typeface="Playfair Display"/>
                <a:cs typeface="Playfair Display"/>
              </a:defRPr>
            </a:pPr>
            <a:r>
              <a:rPr sz="5100" b="1" i="0">
                <a:solidFill>
                  <a:srgbClr val="FFFFFF"/>
                </a:solidFill>
                <a:latin typeface="Playfair Display"/>
                <a:ea typeface="Playfair Display"/>
                <a:cs typeface="Playfair Display"/>
              </a:rPr>
              <a:t>Customer</a:t>
            </a:r>
          </a:p>
          <a:p>
            <a:pPr algn="l">
              <a:lnSpc>
                <a:spcPct val="90000"/>
              </a:lnSpc>
              <a:buNone/>
              <a:defRPr sz="5100" b="1" i="0">
                <a:solidFill>
                  <a:srgbClr val="FFFFFF"/>
                </a:solidFill>
                <a:latin typeface="Playfair Display"/>
                <a:ea typeface="Playfair Display"/>
                <a:cs typeface="Playfair Display"/>
              </a:defRPr>
            </a:pPr>
            <a:r>
              <a:rPr sz="5100" b="1" i="0">
                <a:solidFill>
                  <a:srgbClr val="FFFFFF"/>
                </a:solidFill>
                <a:latin typeface="Playfair Display"/>
                <a:ea typeface="Playfair Display"/>
                <a:cs typeface="Playfair Display"/>
              </a:rPr>
              <a:t>Experience</a:t>
            </a:r>
          </a:p>
        </p:txBody>
      </p:sp>
      <p:sp>
        <p:nvSpPr>
          <p:cNvPr id="5" name="experience-subtitle">
            <a:extLst>
              <a:ext uri="{FF2B5EF4-FFF2-40B4-BE49-F238E27FC236}">
                <a16:creationId xmlns:a16="http://schemas.microsoft.com/office/drawing/2014/main" id="{546D1BDC-4574-4376-9CB1-627F0465BCDF}"/>
              </a:ext>
            </a:extLst>
          </p:cNvPr>
          <p:cNvSpPr>
            <a:spLocks noGrp="1"/>
          </p:cNvSpPr>
          <p:nvPr/>
        </p:nvSpPr>
        <p:spPr>
          <a:xfrm>
            <a:off x="723900" y="4286250"/>
            <a:ext cx="5715000" cy="666750"/>
          </a:xfrm>
          <a:prstGeom prst="rect">
            <a:avLst/>
          </a:prstGeom>
          <a:noFill/>
          <a:ln w="0">
            <a:noFill/>
            <a:prstDash val="solid"/>
          </a:ln>
        </p:spPr>
        <p:txBody>
          <a:bodyPr anchor="ctr"/>
          <a:lstStyle/>
          <a:p>
            <a:pPr algn="l">
              <a:lnSpc>
                <a:spcPct val="105000"/>
              </a:lnSpc>
              <a:buNone/>
              <a:defRPr sz="1725" b="0" i="0">
                <a:solidFill>
                  <a:srgbClr val="FFFFFF">
                    <a:alpha val="82000"/>
                  </a:srgbClr>
                </a:solidFill>
                <a:latin typeface="Inter"/>
                <a:ea typeface="Inter"/>
                <a:cs typeface="Inter"/>
              </a:defRPr>
            </a:pPr>
            <a:r>
              <a:rPr sz="1725" b="0" i="0">
                <a:solidFill>
                  <a:srgbClr val="FFFFFF">
                    <a:alpha val="82000"/>
                  </a:srgbClr>
                </a:solidFill>
                <a:latin typeface="Inter"/>
                <a:ea typeface="Inter"/>
                <a:cs typeface="Inter"/>
              </a:rPr>
              <a:t>A premium interface that supports discovery, booking and ordering.</a:t>
            </a:r>
          </a:p>
        </p:txBody>
      </p:sp>
    </p:spTree>
    <p:extLst>
      <p:ext uri="{BB962C8B-B14F-4D97-AF65-F5344CB8AC3E}">
        <p14:creationId xmlns:p14="http://schemas.microsoft.com/office/powerpoint/2010/main" val="117102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7" name="brand">
            <a:extLst>
              <a:ext uri="{FF2B5EF4-FFF2-40B4-BE49-F238E27FC236}">
                <a16:creationId xmlns:a16="http://schemas.microsoft.com/office/drawing/2014/main" id="{B9F937A1-2784-4CB9-AD04-542F55FE48B6}"/>
              </a:ext>
            </a:extLst>
          </p:cNvPr>
          <p:cNvSpPr>
            <a:spLocks noGrp="1"/>
          </p:cNvSpPr>
          <p:nvPr/>
        </p:nvSpPr>
        <p:spPr>
          <a:xfrm>
            <a:off x="647700" y="323850"/>
            <a:ext cx="2952750" cy="3619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CAFÉ FAUSSE</a:t>
            </a:r>
          </a:p>
        </p:txBody>
      </p:sp>
      <p:sp>
        <p:nvSpPr>
          <p:cNvPr id="2" name="brand-tagline">
            <a:extLst>
              <a:ext uri="{FF2B5EF4-FFF2-40B4-BE49-F238E27FC236}">
                <a16:creationId xmlns:a16="http://schemas.microsoft.com/office/drawing/2014/main" id="{908C4BDC-A680-46E3-9D4D-4A84465A55A2}"/>
              </a:ext>
            </a:extLst>
          </p:cNvPr>
          <p:cNvSpPr>
            <a:spLocks noGrp="1"/>
          </p:cNvSpPr>
          <p:nvPr/>
        </p:nvSpPr>
        <p:spPr>
          <a:xfrm>
            <a:off x="647700" y="666750"/>
            <a:ext cx="3905250" cy="209550"/>
          </a:xfrm>
          <a:prstGeom prst="rect">
            <a:avLst/>
          </a:prstGeom>
          <a:noFill/>
          <a:ln w="0">
            <a:noFill/>
            <a:prstDash val="solid"/>
          </a:ln>
        </p:spPr>
        <p:txBody>
          <a:bodyPr anchor="ctr"/>
          <a:lstStyle/>
          <a:p>
            <a:pPr algn="l">
              <a:lnSpc>
                <a:spcPct val="105000"/>
              </a:lnSpc>
              <a:buNone/>
              <a:defRPr sz="825" b="1" i="0">
                <a:solidFill>
                  <a:srgbClr val="A97417"/>
                </a:solidFill>
                <a:latin typeface="Inter"/>
                <a:ea typeface="Inter"/>
                <a:cs typeface="Inter"/>
              </a:defRPr>
            </a:pPr>
            <a:r>
              <a:rPr sz="825" b="1" i="0">
                <a:solidFill>
                  <a:srgbClr val="A97417"/>
                </a:solidFill>
                <a:latin typeface="Inter"/>
                <a:ea typeface="Inter"/>
                <a:cs typeface="Inter"/>
              </a:rPr>
              <a:t>FINE DINING &amp; SEASONAL ELEGANCE</a:t>
            </a:r>
          </a:p>
        </p:txBody>
      </p:sp>
      <p:sp>
        <p:nvSpPr>
          <p:cNvPr id="3" name="journey-title">
            <a:extLst>
              <a:ext uri="{FF2B5EF4-FFF2-40B4-BE49-F238E27FC236}">
                <a16:creationId xmlns:a16="http://schemas.microsoft.com/office/drawing/2014/main" id="{2AE6B91C-8BDD-4265-928D-5A549CC81EE4}"/>
              </a:ext>
            </a:extLst>
          </p:cNvPr>
          <p:cNvSpPr>
            <a:spLocks noGrp="1"/>
          </p:cNvSpPr>
          <p:nvPr/>
        </p:nvSpPr>
        <p:spPr>
          <a:xfrm>
            <a:off x="647700" y="1219200"/>
            <a:ext cx="8096250" cy="590550"/>
          </a:xfrm>
          <a:prstGeom prst="rect">
            <a:avLst/>
          </a:prstGeom>
          <a:noFill/>
          <a:ln w="0">
            <a:noFill/>
            <a:prstDash val="solid"/>
          </a:ln>
        </p:spPr>
        <p:txBody>
          <a:bodyPr anchor="ctr"/>
          <a:lstStyle/>
          <a:p>
            <a:pPr algn="l">
              <a:lnSpc>
                <a:spcPct val="105000"/>
              </a:lnSpc>
              <a:buNone/>
              <a:defRPr sz="3375" b="1" i="0">
                <a:solidFill>
                  <a:srgbClr val="111111"/>
                </a:solidFill>
                <a:latin typeface="Playfair Display"/>
                <a:ea typeface="Playfair Display"/>
                <a:cs typeface="Playfair Display"/>
              </a:defRPr>
            </a:pPr>
            <a:r>
              <a:rPr sz="3375" b="1" i="0">
                <a:solidFill>
                  <a:srgbClr val="111111"/>
                </a:solidFill>
                <a:latin typeface="Playfair Display"/>
                <a:ea typeface="Playfair Display"/>
                <a:cs typeface="Playfair Display"/>
              </a:rPr>
              <a:t>One journey connects inspiration to collection</a:t>
            </a:r>
          </a:p>
        </p:txBody>
      </p:sp>
      <p:sp>
        <p:nvSpPr>
          <p:cNvPr id="4" name="journey-intro">
            <a:extLst>
              <a:ext uri="{FF2B5EF4-FFF2-40B4-BE49-F238E27FC236}">
                <a16:creationId xmlns:a16="http://schemas.microsoft.com/office/drawing/2014/main" id="{6D880EF7-8897-4863-9230-DAB05A8252CD}"/>
              </a:ext>
            </a:extLst>
          </p:cNvPr>
          <p:cNvSpPr>
            <a:spLocks noGrp="1"/>
          </p:cNvSpPr>
          <p:nvPr/>
        </p:nvSpPr>
        <p:spPr>
          <a:xfrm>
            <a:off x="647700" y="1943100"/>
            <a:ext cx="7429500" cy="628650"/>
          </a:xfrm>
          <a:prstGeom prst="rect">
            <a:avLst/>
          </a:prstGeom>
          <a:noFill/>
          <a:ln w="0">
            <a:noFill/>
            <a:prstDash val="solid"/>
          </a:ln>
        </p:spPr>
        <p:txBody>
          <a:bodyPr anchor="ctr"/>
          <a:lstStyle/>
          <a:p>
            <a:pPr algn="l">
              <a:lnSpc>
                <a:spcPct val="120000"/>
              </a:lnSpc>
              <a:buNone/>
              <a:defRPr sz="1575" b="0" i="0">
                <a:solidFill>
                  <a:srgbClr val="667085"/>
                </a:solidFill>
                <a:latin typeface="Inter"/>
                <a:ea typeface="Inter"/>
                <a:cs typeface="Inter"/>
              </a:defRPr>
            </a:pPr>
            <a:r>
              <a:rPr sz="1575" b="0" i="0">
                <a:solidFill>
                  <a:srgbClr val="667085"/>
                </a:solidFill>
                <a:latin typeface="Inter"/>
                <a:ea typeface="Inter"/>
                <a:cs typeface="Inter"/>
              </a:rPr>
              <a:t>The completed build moves beyond a brochure website and supports the customer’s full path through the restaurant experience.</a:t>
            </a:r>
          </a:p>
        </p:txBody>
      </p:sp>
      <p:sp>
        <p:nvSpPr>
          <p:cNvPr id="5" name="journey-number-01">
            <a:extLst>
              <a:ext uri="{FF2B5EF4-FFF2-40B4-BE49-F238E27FC236}">
                <a16:creationId xmlns:a16="http://schemas.microsoft.com/office/drawing/2014/main" id="{9C4CD48A-5181-408E-B93C-1BB29073C5EC}"/>
              </a:ext>
            </a:extLst>
          </p:cNvPr>
          <p:cNvSpPr>
            <a:spLocks noGrp="1"/>
          </p:cNvSpPr>
          <p:nvPr/>
        </p:nvSpPr>
        <p:spPr>
          <a:xfrm>
            <a:off x="647700" y="2952750"/>
            <a:ext cx="457200" cy="419100"/>
          </a:xfrm>
          <a:prstGeom prst="rect">
            <a:avLst/>
          </a:prstGeom>
          <a:noFill/>
          <a:ln w="0">
            <a:noFill/>
            <a:prstDash val="solid"/>
          </a:ln>
        </p:spPr>
        <p:txBody>
          <a:bodyPr anchor="ctr"/>
          <a:lstStyle/>
          <a:p>
            <a:pPr algn="l">
              <a:lnSpc>
                <a:spcPct val="105000"/>
              </a:lnSpc>
              <a:buNone/>
              <a:defRPr sz="1350" b="1" i="0">
                <a:solidFill>
                  <a:srgbClr val="A97417"/>
                </a:solidFill>
                <a:latin typeface="Inter"/>
                <a:ea typeface="Inter"/>
                <a:cs typeface="Inter"/>
              </a:defRPr>
            </a:pPr>
            <a:r>
              <a:rPr sz="1350" b="1" i="0">
                <a:solidFill>
                  <a:srgbClr val="A97417"/>
                </a:solidFill>
                <a:latin typeface="Inter"/>
                <a:ea typeface="Inter"/>
                <a:cs typeface="Inter"/>
              </a:rPr>
              <a:t>01</a:t>
            </a:r>
          </a:p>
        </p:txBody>
      </p:sp>
      <p:sp>
        <p:nvSpPr>
          <p:cNvPr id="6" name="journey-heading-01">
            <a:extLst>
              <a:ext uri="{FF2B5EF4-FFF2-40B4-BE49-F238E27FC236}">
                <a16:creationId xmlns:a16="http://schemas.microsoft.com/office/drawing/2014/main" id="{3D208513-93AE-4D7E-B445-89D3958B4817}"/>
              </a:ext>
            </a:extLst>
          </p:cNvPr>
          <p:cNvSpPr>
            <a:spLocks noGrp="1"/>
          </p:cNvSpPr>
          <p:nvPr/>
        </p:nvSpPr>
        <p:spPr>
          <a:xfrm>
            <a:off x="1200150" y="2952750"/>
            <a:ext cx="1428750" cy="4000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Discover</a:t>
            </a:r>
          </a:p>
        </p:txBody>
      </p:sp>
      <p:sp>
        <p:nvSpPr>
          <p:cNvPr id="7" name="journey-body-01">
            <a:extLst>
              <a:ext uri="{FF2B5EF4-FFF2-40B4-BE49-F238E27FC236}">
                <a16:creationId xmlns:a16="http://schemas.microsoft.com/office/drawing/2014/main" id="{51C1FF2B-3AE6-408F-B288-FE01422025B9}"/>
              </a:ext>
            </a:extLst>
          </p:cNvPr>
          <p:cNvSpPr>
            <a:spLocks noGrp="1"/>
          </p:cNvSpPr>
          <p:nvPr/>
        </p:nvSpPr>
        <p:spPr>
          <a:xfrm>
            <a:off x="2724150" y="2952750"/>
            <a:ext cx="5191125" cy="533400"/>
          </a:xfrm>
          <a:prstGeom prst="rect">
            <a:avLst/>
          </a:prstGeom>
          <a:noFill/>
          <a:ln w="0">
            <a:noFill/>
            <a:prstDash val="solid"/>
          </a:ln>
        </p:spPr>
        <p:txBody>
          <a:bodyPr anchor="ctr"/>
          <a:lstStyle/>
          <a:p>
            <a:pPr algn="l">
              <a:lnSpc>
                <a:spcPct val="112000"/>
              </a:lnSpc>
              <a:buNone/>
              <a:defRPr sz="1350" b="0" i="0">
                <a:solidFill>
                  <a:srgbClr val="667085"/>
                </a:solidFill>
                <a:latin typeface="Inter"/>
                <a:ea typeface="Inter"/>
                <a:cs typeface="Inter"/>
              </a:defRPr>
            </a:pPr>
            <a:r>
              <a:rPr sz="1350" b="0" i="0">
                <a:solidFill>
                  <a:srgbClr val="667085"/>
                </a:solidFill>
                <a:latin typeface="Inter"/>
                <a:ea typeface="Inter"/>
                <a:cs typeface="Inter"/>
              </a:rPr>
              <a:t>Homepage specials, restaurant story and gallery visuals establish the brand.</a:t>
            </a:r>
          </a:p>
        </p:txBody>
      </p:sp>
      <p:sp>
        <p:nvSpPr>
          <p:cNvPr id="8" name="journey-number-02">
            <a:extLst>
              <a:ext uri="{FF2B5EF4-FFF2-40B4-BE49-F238E27FC236}">
                <a16:creationId xmlns:a16="http://schemas.microsoft.com/office/drawing/2014/main" id="{C63CB08E-A906-4FAB-9B08-F65571A4F6F3}"/>
              </a:ext>
            </a:extLst>
          </p:cNvPr>
          <p:cNvSpPr>
            <a:spLocks noGrp="1"/>
          </p:cNvSpPr>
          <p:nvPr/>
        </p:nvSpPr>
        <p:spPr>
          <a:xfrm>
            <a:off x="647700" y="3695700"/>
            <a:ext cx="457200" cy="419100"/>
          </a:xfrm>
          <a:prstGeom prst="rect">
            <a:avLst/>
          </a:prstGeom>
          <a:noFill/>
          <a:ln w="0">
            <a:noFill/>
            <a:prstDash val="solid"/>
          </a:ln>
        </p:spPr>
        <p:txBody>
          <a:bodyPr anchor="ctr"/>
          <a:lstStyle/>
          <a:p>
            <a:pPr algn="l">
              <a:lnSpc>
                <a:spcPct val="105000"/>
              </a:lnSpc>
              <a:buNone/>
              <a:defRPr sz="1350" b="1" i="0">
                <a:solidFill>
                  <a:srgbClr val="A97417"/>
                </a:solidFill>
                <a:latin typeface="Inter"/>
                <a:ea typeface="Inter"/>
                <a:cs typeface="Inter"/>
              </a:defRPr>
            </a:pPr>
            <a:r>
              <a:rPr sz="1350" b="1" i="0">
                <a:solidFill>
                  <a:srgbClr val="A97417"/>
                </a:solidFill>
                <a:latin typeface="Inter"/>
                <a:ea typeface="Inter"/>
                <a:cs typeface="Inter"/>
              </a:rPr>
              <a:t>02</a:t>
            </a:r>
          </a:p>
        </p:txBody>
      </p:sp>
      <p:sp>
        <p:nvSpPr>
          <p:cNvPr id="9" name="journey-heading-02">
            <a:extLst>
              <a:ext uri="{FF2B5EF4-FFF2-40B4-BE49-F238E27FC236}">
                <a16:creationId xmlns:a16="http://schemas.microsoft.com/office/drawing/2014/main" id="{771CB669-065E-4B70-A693-73D780526519}"/>
              </a:ext>
            </a:extLst>
          </p:cNvPr>
          <p:cNvSpPr>
            <a:spLocks noGrp="1"/>
          </p:cNvSpPr>
          <p:nvPr/>
        </p:nvSpPr>
        <p:spPr>
          <a:xfrm>
            <a:off x="1200150" y="3695700"/>
            <a:ext cx="1428750" cy="4000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Plan</a:t>
            </a:r>
          </a:p>
        </p:txBody>
      </p:sp>
      <p:sp>
        <p:nvSpPr>
          <p:cNvPr id="10" name="journey-body-02">
            <a:extLst>
              <a:ext uri="{FF2B5EF4-FFF2-40B4-BE49-F238E27FC236}">
                <a16:creationId xmlns:a16="http://schemas.microsoft.com/office/drawing/2014/main" id="{0C36098F-E09A-4C73-8881-311A5BAB925B}"/>
              </a:ext>
            </a:extLst>
          </p:cNvPr>
          <p:cNvSpPr>
            <a:spLocks noGrp="1"/>
          </p:cNvSpPr>
          <p:nvPr/>
        </p:nvSpPr>
        <p:spPr>
          <a:xfrm>
            <a:off x="2724150" y="3695700"/>
            <a:ext cx="5191125" cy="533400"/>
          </a:xfrm>
          <a:prstGeom prst="rect">
            <a:avLst/>
          </a:prstGeom>
          <a:noFill/>
          <a:ln w="0">
            <a:noFill/>
            <a:prstDash val="solid"/>
          </a:ln>
        </p:spPr>
        <p:txBody>
          <a:bodyPr anchor="ctr"/>
          <a:lstStyle/>
          <a:p>
            <a:pPr algn="l">
              <a:lnSpc>
                <a:spcPct val="112000"/>
              </a:lnSpc>
              <a:buNone/>
              <a:defRPr sz="1350" b="0" i="0">
                <a:solidFill>
                  <a:srgbClr val="667085"/>
                </a:solidFill>
                <a:latin typeface="Inter"/>
                <a:ea typeface="Inter"/>
                <a:cs typeface="Inter"/>
              </a:defRPr>
            </a:pPr>
            <a:r>
              <a:rPr sz="1350" b="0" i="0">
                <a:solidFill>
                  <a:srgbClr val="667085"/>
                </a:solidFill>
                <a:latin typeface="Inter"/>
                <a:ea typeface="Inter"/>
                <a:cs typeface="Inter"/>
              </a:rPr>
              <a:t>Customers browse live menu content and complete a database-backed reservation.</a:t>
            </a:r>
          </a:p>
        </p:txBody>
      </p:sp>
      <p:sp>
        <p:nvSpPr>
          <p:cNvPr id="11" name="journey-number-03">
            <a:extLst>
              <a:ext uri="{FF2B5EF4-FFF2-40B4-BE49-F238E27FC236}">
                <a16:creationId xmlns:a16="http://schemas.microsoft.com/office/drawing/2014/main" id="{AE475301-2FC5-4409-97C8-B291ADA4BFC3}"/>
              </a:ext>
            </a:extLst>
          </p:cNvPr>
          <p:cNvSpPr>
            <a:spLocks noGrp="1"/>
          </p:cNvSpPr>
          <p:nvPr/>
        </p:nvSpPr>
        <p:spPr>
          <a:xfrm>
            <a:off x="647700" y="4438650"/>
            <a:ext cx="457200" cy="419100"/>
          </a:xfrm>
          <a:prstGeom prst="rect">
            <a:avLst/>
          </a:prstGeom>
          <a:noFill/>
          <a:ln w="0">
            <a:noFill/>
            <a:prstDash val="solid"/>
          </a:ln>
        </p:spPr>
        <p:txBody>
          <a:bodyPr anchor="ctr"/>
          <a:lstStyle/>
          <a:p>
            <a:pPr algn="l">
              <a:lnSpc>
                <a:spcPct val="105000"/>
              </a:lnSpc>
              <a:buNone/>
              <a:defRPr sz="1350" b="1" i="0">
                <a:solidFill>
                  <a:srgbClr val="A97417"/>
                </a:solidFill>
                <a:latin typeface="Inter"/>
                <a:ea typeface="Inter"/>
                <a:cs typeface="Inter"/>
              </a:defRPr>
            </a:pPr>
            <a:r>
              <a:rPr sz="1350" b="1" i="0">
                <a:solidFill>
                  <a:srgbClr val="A97417"/>
                </a:solidFill>
                <a:latin typeface="Inter"/>
                <a:ea typeface="Inter"/>
                <a:cs typeface="Inter"/>
              </a:rPr>
              <a:t>03</a:t>
            </a:r>
          </a:p>
        </p:txBody>
      </p:sp>
      <p:sp>
        <p:nvSpPr>
          <p:cNvPr id="12" name="journey-heading-03">
            <a:extLst>
              <a:ext uri="{FF2B5EF4-FFF2-40B4-BE49-F238E27FC236}">
                <a16:creationId xmlns:a16="http://schemas.microsoft.com/office/drawing/2014/main" id="{0DC46163-D68F-4D63-AF6B-DD72F89395E2}"/>
              </a:ext>
            </a:extLst>
          </p:cNvPr>
          <p:cNvSpPr>
            <a:spLocks noGrp="1"/>
          </p:cNvSpPr>
          <p:nvPr/>
        </p:nvSpPr>
        <p:spPr>
          <a:xfrm>
            <a:off x="1200150" y="4438650"/>
            <a:ext cx="1428750" cy="4000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Order</a:t>
            </a:r>
          </a:p>
        </p:txBody>
      </p:sp>
      <p:sp>
        <p:nvSpPr>
          <p:cNvPr id="13" name="journey-body-03">
            <a:extLst>
              <a:ext uri="{FF2B5EF4-FFF2-40B4-BE49-F238E27FC236}">
                <a16:creationId xmlns:a16="http://schemas.microsoft.com/office/drawing/2014/main" id="{B2033B99-357F-4BD3-8C7C-5CB62EDE9552}"/>
              </a:ext>
            </a:extLst>
          </p:cNvPr>
          <p:cNvSpPr>
            <a:spLocks noGrp="1"/>
          </p:cNvSpPr>
          <p:nvPr/>
        </p:nvSpPr>
        <p:spPr>
          <a:xfrm>
            <a:off x="2724150" y="4438650"/>
            <a:ext cx="5191125" cy="533400"/>
          </a:xfrm>
          <a:prstGeom prst="rect">
            <a:avLst/>
          </a:prstGeom>
          <a:noFill/>
          <a:ln w="0">
            <a:noFill/>
            <a:prstDash val="solid"/>
          </a:ln>
        </p:spPr>
        <p:txBody>
          <a:bodyPr anchor="ctr"/>
          <a:lstStyle/>
          <a:p>
            <a:pPr algn="l">
              <a:lnSpc>
                <a:spcPct val="112000"/>
              </a:lnSpc>
              <a:buNone/>
              <a:defRPr sz="1350" b="0" i="0">
                <a:solidFill>
                  <a:srgbClr val="667085"/>
                </a:solidFill>
                <a:latin typeface="Inter"/>
                <a:ea typeface="Inter"/>
                <a:cs typeface="Inter"/>
              </a:defRPr>
            </a:pPr>
            <a:r>
              <a:rPr sz="1350" b="0" i="0">
                <a:solidFill>
                  <a:srgbClr val="667085"/>
                </a:solidFill>
                <a:latin typeface="Inter"/>
                <a:ea typeface="Inter"/>
                <a:cs typeface="Inter"/>
              </a:rPr>
              <a:t>Click &amp; Collect adds items to a persistent cart with quantity controls.</a:t>
            </a:r>
          </a:p>
        </p:txBody>
      </p:sp>
      <p:sp>
        <p:nvSpPr>
          <p:cNvPr id="14" name="journey-number-04">
            <a:extLst>
              <a:ext uri="{FF2B5EF4-FFF2-40B4-BE49-F238E27FC236}">
                <a16:creationId xmlns:a16="http://schemas.microsoft.com/office/drawing/2014/main" id="{BB97BC18-8C43-4A60-8677-C49A7733F50D}"/>
              </a:ext>
            </a:extLst>
          </p:cNvPr>
          <p:cNvSpPr>
            <a:spLocks noGrp="1"/>
          </p:cNvSpPr>
          <p:nvPr/>
        </p:nvSpPr>
        <p:spPr>
          <a:xfrm>
            <a:off x="647700" y="5181600"/>
            <a:ext cx="457200" cy="419100"/>
          </a:xfrm>
          <a:prstGeom prst="rect">
            <a:avLst/>
          </a:prstGeom>
          <a:noFill/>
          <a:ln w="0">
            <a:noFill/>
            <a:prstDash val="solid"/>
          </a:ln>
        </p:spPr>
        <p:txBody>
          <a:bodyPr anchor="ctr"/>
          <a:lstStyle/>
          <a:p>
            <a:pPr algn="l">
              <a:lnSpc>
                <a:spcPct val="105000"/>
              </a:lnSpc>
              <a:buNone/>
              <a:defRPr sz="1350" b="1" i="0">
                <a:solidFill>
                  <a:srgbClr val="A97417"/>
                </a:solidFill>
                <a:latin typeface="Inter"/>
                <a:ea typeface="Inter"/>
                <a:cs typeface="Inter"/>
              </a:defRPr>
            </a:pPr>
            <a:r>
              <a:rPr sz="1350" b="1" i="0">
                <a:solidFill>
                  <a:srgbClr val="A97417"/>
                </a:solidFill>
                <a:latin typeface="Inter"/>
                <a:ea typeface="Inter"/>
                <a:cs typeface="Inter"/>
              </a:rPr>
              <a:t>04</a:t>
            </a:r>
          </a:p>
        </p:txBody>
      </p:sp>
      <p:sp>
        <p:nvSpPr>
          <p:cNvPr id="15" name="journey-heading-04">
            <a:extLst>
              <a:ext uri="{FF2B5EF4-FFF2-40B4-BE49-F238E27FC236}">
                <a16:creationId xmlns:a16="http://schemas.microsoft.com/office/drawing/2014/main" id="{DEFF8BDC-BBA5-4AB2-9418-AEB7A560D456}"/>
              </a:ext>
            </a:extLst>
          </p:cNvPr>
          <p:cNvSpPr>
            <a:spLocks noGrp="1"/>
          </p:cNvSpPr>
          <p:nvPr/>
        </p:nvSpPr>
        <p:spPr>
          <a:xfrm>
            <a:off x="1200150" y="5181600"/>
            <a:ext cx="1428750" cy="4000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Confirm</a:t>
            </a:r>
          </a:p>
        </p:txBody>
      </p:sp>
      <p:sp>
        <p:nvSpPr>
          <p:cNvPr id="16" name="journey-body-04">
            <a:extLst>
              <a:ext uri="{FF2B5EF4-FFF2-40B4-BE49-F238E27FC236}">
                <a16:creationId xmlns:a16="http://schemas.microsoft.com/office/drawing/2014/main" id="{4927914C-5507-4CE5-BA8A-AEC3DA6C31ED}"/>
              </a:ext>
            </a:extLst>
          </p:cNvPr>
          <p:cNvSpPr>
            <a:spLocks noGrp="1"/>
          </p:cNvSpPr>
          <p:nvPr/>
        </p:nvSpPr>
        <p:spPr>
          <a:xfrm>
            <a:off x="2724150" y="5181600"/>
            <a:ext cx="5191125" cy="533400"/>
          </a:xfrm>
          <a:prstGeom prst="rect">
            <a:avLst/>
          </a:prstGeom>
          <a:noFill/>
          <a:ln w="0">
            <a:noFill/>
            <a:prstDash val="solid"/>
          </a:ln>
        </p:spPr>
        <p:txBody>
          <a:bodyPr anchor="ctr"/>
          <a:lstStyle/>
          <a:p>
            <a:pPr algn="l">
              <a:lnSpc>
                <a:spcPct val="112000"/>
              </a:lnSpc>
              <a:buNone/>
              <a:defRPr sz="1350" b="0" i="0">
                <a:solidFill>
                  <a:srgbClr val="667085"/>
                </a:solidFill>
                <a:latin typeface="Inter"/>
                <a:ea typeface="Inter"/>
                <a:cs typeface="Inter"/>
              </a:defRPr>
            </a:pPr>
            <a:r>
              <a:rPr sz="1350" b="0" i="0">
                <a:solidFill>
                  <a:srgbClr val="667085"/>
                </a:solidFill>
                <a:latin typeface="Inter"/>
                <a:ea typeface="Inter"/>
                <a:cs typeface="Inter"/>
              </a:rPr>
              <a:t>Checkout shows order details and totals before pay-on-collection confirmation.</a:t>
            </a:r>
          </a:p>
        </p:txBody>
      </p:sp>
      <p:pic>
        <p:nvPicPr>
          <p:cNvPr id="37" name="Picture 36"/>
          <p:cNvPicPr>
            <a:picLocks noChangeAspect="1"/>
          </p:cNvPicPr>
          <p:nvPr/>
        </p:nvPicPr>
        <p:blipFill>
          <a:blip r:embed="rId3"/>
          <a:srcRect l="31066" r="31066"/>
          <a:stretch>
            <a:fillRect/>
          </a:stretch>
        </p:blipFill>
        <p:spPr>
          <a:xfrm>
            <a:off x="8429625" y="1200150"/>
            <a:ext cx="3114675" cy="4629150"/>
          </a:xfrm>
          <a:prstGeom prst="roundRect">
            <a:avLst>
              <a:gd name="adj" fmla="val 4893"/>
            </a:avLst>
          </a:prstGeom>
        </p:spPr>
      </p:pic>
      <p:sp>
        <p:nvSpPr>
          <p:cNvPr id="18" name="footer-rule-4">
            <a:extLst>
              <a:ext uri="{FF2B5EF4-FFF2-40B4-BE49-F238E27FC236}">
                <a16:creationId xmlns:a16="http://schemas.microsoft.com/office/drawing/2014/main" id="{5D42072A-1057-454F-8CA8-BE75D49F7425}"/>
              </a:ext>
            </a:extLst>
          </p:cNvPr>
          <p:cNvSpPr>
            <a:spLocks noGrp="1"/>
          </p:cNvSpPr>
          <p:nvPr/>
        </p:nvSpPr>
        <p:spPr>
          <a:xfrm>
            <a:off x="647700" y="6419850"/>
            <a:ext cx="10896600" cy="19050"/>
          </a:xfrm>
          <a:prstGeom prst="rect">
            <a:avLst/>
          </a:prstGeom>
          <a:solidFill>
            <a:srgbClr val="A97417">
              <a:alpha val="35000"/>
            </a:srgbClr>
          </a:solidFill>
          <a:ln w="0">
            <a:noFill/>
            <a:prstDash val="solid"/>
          </a:ln>
        </p:spPr>
        <p:txBody>
          <a:bodyPr/>
          <a:lstStyle/>
          <a:p>
            <a:endParaRPr lang="en-ZA"/>
          </a:p>
        </p:txBody>
      </p:sp>
      <p:sp>
        <p:nvSpPr>
          <p:cNvPr id="19" name="footer-label-4">
            <a:extLst>
              <a:ext uri="{FF2B5EF4-FFF2-40B4-BE49-F238E27FC236}">
                <a16:creationId xmlns:a16="http://schemas.microsoft.com/office/drawing/2014/main" id="{D1BC95BA-5AAA-41EB-A7F4-2E278754FDC6}"/>
              </a:ext>
            </a:extLst>
          </p:cNvPr>
          <p:cNvSpPr>
            <a:spLocks noGrp="1"/>
          </p:cNvSpPr>
          <p:nvPr/>
        </p:nvSpPr>
        <p:spPr>
          <a:xfrm>
            <a:off x="647700" y="6477000"/>
            <a:ext cx="4191000" cy="190500"/>
          </a:xfrm>
          <a:prstGeom prst="rect">
            <a:avLst/>
          </a:prstGeom>
          <a:noFill/>
          <a:ln w="0">
            <a:noFill/>
            <a:prstDash val="solid"/>
          </a:ln>
        </p:spPr>
        <p:txBody>
          <a:bodyPr anchor="ctr"/>
          <a:lstStyle/>
          <a:p>
            <a:pPr algn="l">
              <a:lnSpc>
                <a:spcPct val="105000"/>
              </a:lnSpc>
              <a:buNone/>
              <a:defRPr sz="750" b="1" i="0">
                <a:solidFill>
                  <a:srgbClr val="667085"/>
                </a:solidFill>
                <a:latin typeface="Inter"/>
                <a:ea typeface="Inter"/>
                <a:cs typeface="Inter"/>
              </a:defRPr>
            </a:pPr>
            <a:r>
              <a:rPr sz="750" b="1" i="0">
                <a:solidFill>
                  <a:srgbClr val="667085"/>
                </a:solidFill>
                <a:latin typeface="Inter"/>
                <a:ea typeface="Inter"/>
                <a:cs typeface="Inter"/>
              </a:rPr>
              <a:t>CAFÉ FAUSSE RESTAURANT PLATFORM</a:t>
            </a:r>
          </a:p>
        </p:txBody>
      </p:sp>
      <p:sp>
        <p:nvSpPr>
          <p:cNvPr id="20" name="footer-number-4">
            <a:extLst>
              <a:ext uri="{FF2B5EF4-FFF2-40B4-BE49-F238E27FC236}">
                <a16:creationId xmlns:a16="http://schemas.microsoft.com/office/drawing/2014/main" id="{AEA8321A-7D71-44BC-8AFE-078E59583B45}"/>
              </a:ext>
            </a:extLst>
          </p:cNvPr>
          <p:cNvSpPr>
            <a:spLocks noGrp="1"/>
          </p:cNvSpPr>
          <p:nvPr/>
        </p:nvSpPr>
        <p:spPr>
          <a:xfrm>
            <a:off x="11049000" y="6477000"/>
            <a:ext cx="476250" cy="190500"/>
          </a:xfrm>
          <a:prstGeom prst="rect">
            <a:avLst/>
          </a:prstGeom>
          <a:noFill/>
          <a:ln w="0">
            <a:noFill/>
            <a:prstDash val="solid"/>
          </a:ln>
        </p:spPr>
        <p:txBody>
          <a:bodyPr anchor="ctr"/>
          <a:lstStyle/>
          <a:p>
            <a:pPr algn="r">
              <a:lnSpc>
                <a:spcPct val="105000"/>
              </a:lnSpc>
              <a:buNone/>
              <a:defRPr sz="750" b="1" i="0">
                <a:solidFill>
                  <a:srgbClr val="A97417"/>
                </a:solidFill>
                <a:latin typeface="Inter"/>
                <a:ea typeface="Inter"/>
                <a:cs typeface="Inter"/>
              </a:defRPr>
            </a:pPr>
            <a:r>
              <a:rPr sz="750" b="1" i="0">
                <a:solidFill>
                  <a:srgbClr val="A97417"/>
                </a:solidFill>
                <a:latin typeface="Inter"/>
                <a:ea typeface="Inter"/>
                <a:cs typeface="Inter"/>
              </a:rPr>
              <a:t>04</a:t>
            </a:r>
          </a:p>
        </p:txBody>
      </p:sp>
    </p:spTree>
    <p:extLst>
      <p:ext uri="{BB962C8B-B14F-4D97-AF65-F5344CB8AC3E}">
        <p14:creationId xmlns:p14="http://schemas.microsoft.com/office/powerpoint/2010/main" val="175215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27" b="27"/>
          <a:stretch>
            <a:fillRect/>
          </a:stretch>
        </p:blipFill>
        <p:spPr>
          <a:xfrm>
            <a:off x="0" y="0"/>
            <a:ext cx="12192000" cy="6858000"/>
          </a:xfrm>
          <a:prstGeom prst="rect">
            <a:avLst/>
          </a:prstGeom>
        </p:spPr>
      </p:pic>
      <p:sp>
        <p:nvSpPr>
          <p:cNvPr id="2" name="engineering-overlay">
            <a:extLst>
              <a:ext uri="{FF2B5EF4-FFF2-40B4-BE49-F238E27FC236}">
                <a16:creationId xmlns:a16="http://schemas.microsoft.com/office/drawing/2014/main" id="{9820E5E5-1B7C-482D-894D-FC29D4BA7601}"/>
              </a:ext>
            </a:extLst>
          </p:cNvPr>
          <p:cNvSpPr>
            <a:spLocks noGrp="1"/>
          </p:cNvSpPr>
          <p:nvPr/>
        </p:nvSpPr>
        <p:spPr>
          <a:xfrm>
            <a:off x="0" y="0"/>
            <a:ext cx="12192000" cy="6858000"/>
          </a:xfrm>
          <a:prstGeom prst="rect">
            <a:avLst/>
          </a:prstGeom>
          <a:solidFill>
            <a:srgbClr val="000000">
              <a:alpha val="60000"/>
            </a:srgbClr>
          </a:solidFill>
          <a:ln w="0">
            <a:noFill/>
            <a:prstDash val="solid"/>
          </a:ln>
        </p:spPr>
        <p:txBody>
          <a:bodyPr/>
          <a:lstStyle/>
          <a:p>
            <a:endParaRPr lang="en-ZA"/>
          </a:p>
        </p:txBody>
      </p:sp>
      <p:sp>
        <p:nvSpPr>
          <p:cNvPr id="3" name="engineering-number">
            <a:extLst>
              <a:ext uri="{FF2B5EF4-FFF2-40B4-BE49-F238E27FC236}">
                <a16:creationId xmlns:a16="http://schemas.microsoft.com/office/drawing/2014/main" id="{2C7B18AD-74A3-4A1B-988E-B170DA9519CC}"/>
              </a:ext>
            </a:extLst>
          </p:cNvPr>
          <p:cNvSpPr>
            <a:spLocks noGrp="1"/>
          </p:cNvSpPr>
          <p:nvPr/>
        </p:nvSpPr>
        <p:spPr>
          <a:xfrm>
            <a:off x="723900" y="1104900"/>
            <a:ext cx="1238250" cy="800100"/>
          </a:xfrm>
          <a:prstGeom prst="rect">
            <a:avLst/>
          </a:prstGeom>
          <a:noFill/>
          <a:ln w="0">
            <a:noFill/>
            <a:prstDash val="solid"/>
          </a:ln>
        </p:spPr>
        <p:txBody>
          <a:bodyPr anchor="ctr"/>
          <a:lstStyle/>
          <a:p>
            <a:pPr algn="l">
              <a:lnSpc>
                <a:spcPct val="105000"/>
              </a:lnSpc>
              <a:buNone/>
              <a:defRPr sz="4800" b="1" i="0">
                <a:solidFill>
                  <a:srgbClr val="D4B77D"/>
                </a:solidFill>
                <a:latin typeface="Playfair Display"/>
                <a:ea typeface="Playfair Display"/>
                <a:cs typeface="Playfair Display"/>
              </a:defRPr>
            </a:pPr>
            <a:r>
              <a:rPr sz="4800" b="1" i="0">
                <a:solidFill>
                  <a:srgbClr val="D4B77D"/>
                </a:solidFill>
                <a:latin typeface="Playfair Display"/>
                <a:ea typeface="Playfair Display"/>
                <a:cs typeface="Playfair Display"/>
              </a:rPr>
              <a:t>02</a:t>
            </a:r>
          </a:p>
        </p:txBody>
      </p:sp>
      <p:sp>
        <p:nvSpPr>
          <p:cNvPr id="4" name="engineering-title">
            <a:extLst>
              <a:ext uri="{FF2B5EF4-FFF2-40B4-BE49-F238E27FC236}">
                <a16:creationId xmlns:a16="http://schemas.microsoft.com/office/drawing/2014/main" id="{92AD000C-3207-43D4-A0E3-9CEBACB6DB77}"/>
              </a:ext>
            </a:extLst>
          </p:cNvPr>
          <p:cNvSpPr>
            <a:spLocks noGrp="1"/>
          </p:cNvSpPr>
          <p:nvPr/>
        </p:nvSpPr>
        <p:spPr>
          <a:xfrm>
            <a:off x="685800" y="2143125"/>
            <a:ext cx="5905500" cy="1762125"/>
          </a:xfrm>
          <a:prstGeom prst="rect">
            <a:avLst/>
          </a:prstGeom>
          <a:noFill/>
          <a:ln w="0">
            <a:noFill/>
            <a:prstDash val="solid"/>
          </a:ln>
        </p:spPr>
        <p:txBody>
          <a:bodyPr anchor="ctr"/>
          <a:lstStyle/>
          <a:p>
            <a:pPr algn="l">
              <a:lnSpc>
                <a:spcPct val="90000"/>
              </a:lnSpc>
              <a:buNone/>
              <a:defRPr sz="5100" b="1" i="0">
                <a:solidFill>
                  <a:srgbClr val="FFFFFF"/>
                </a:solidFill>
                <a:latin typeface="Playfair Display"/>
                <a:ea typeface="Playfair Display"/>
                <a:cs typeface="Playfair Display"/>
              </a:defRPr>
            </a:pPr>
            <a:r>
              <a:rPr sz="5100" b="1" i="0">
                <a:solidFill>
                  <a:srgbClr val="FFFFFF"/>
                </a:solidFill>
                <a:latin typeface="Playfair Display"/>
                <a:ea typeface="Playfair Display"/>
                <a:cs typeface="Playfair Display"/>
              </a:rPr>
              <a:t>Engineering</a:t>
            </a:r>
          </a:p>
          <a:p>
            <a:pPr algn="l">
              <a:lnSpc>
                <a:spcPct val="90000"/>
              </a:lnSpc>
              <a:buNone/>
              <a:defRPr sz="5100" b="1" i="0">
                <a:solidFill>
                  <a:srgbClr val="FFFFFF"/>
                </a:solidFill>
                <a:latin typeface="Playfair Display"/>
                <a:ea typeface="Playfair Display"/>
                <a:cs typeface="Playfair Display"/>
              </a:defRPr>
            </a:pPr>
            <a:r>
              <a:rPr sz="5100" b="1" i="0">
                <a:solidFill>
                  <a:srgbClr val="FFFFFF"/>
                </a:solidFill>
                <a:latin typeface="Playfair Display"/>
                <a:ea typeface="Playfair Display"/>
                <a:cs typeface="Playfair Display"/>
              </a:rPr>
              <a:t>Foundation</a:t>
            </a:r>
          </a:p>
        </p:txBody>
      </p:sp>
      <p:sp>
        <p:nvSpPr>
          <p:cNvPr id="5" name="engineering-subtitle">
            <a:extLst>
              <a:ext uri="{FF2B5EF4-FFF2-40B4-BE49-F238E27FC236}">
                <a16:creationId xmlns:a16="http://schemas.microsoft.com/office/drawing/2014/main" id="{9612CCEB-C9DE-493E-95E9-26932946A27E}"/>
              </a:ext>
            </a:extLst>
          </p:cNvPr>
          <p:cNvSpPr>
            <a:spLocks noGrp="1"/>
          </p:cNvSpPr>
          <p:nvPr/>
        </p:nvSpPr>
        <p:spPr>
          <a:xfrm>
            <a:off x="723900" y="4286250"/>
            <a:ext cx="6477000" cy="666750"/>
          </a:xfrm>
          <a:prstGeom prst="rect">
            <a:avLst/>
          </a:prstGeom>
          <a:noFill/>
          <a:ln w="0">
            <a:noFill/>
            <a:prstDash val="solid"/>
          </a:ln>
        </p:spPr>
        <p:txBody>
          <a:bodyPr anchor="ctr"/>
          <a:lstStyle/>
          <a:p>
            <a:pPr algn="l">
              <a:lnSpc>
                <a:spcPct val="105000"/>
              </a:lnSpc>
              <a:buNone/>
              <a:defRPr sz="1725" b="0" i="0">
                <a:solidFill>
                  <a:srgbClr val="FFFFFF">
                    <a:alpha val="82000"/>
                  </a:srgbClr>
                </a:solidFill>
                <a:latin typeface="Inter"/>
                <a:ea typeface="Inter"/>
                <a:cs typeface="Inter"/>
              </a:defRPr>
            </a:pPr>
            <a:r>
              <a:rPr sz="1725" b="0" i="0">
                <a:solidFill>
                  <a:srgbClr val="FFFFFF">
                    <a:alpha val="82000"/>
                  </a:srgbClr>
                </a:solidFill>
                <a:latin typeface="Inter"/>
                <a:ea typeface="Inter"/>
                <a:cs typeface="Inter"/>
              </a:rPr>
              <a:t>A modular full-stack architecture keeps presentation, logic and data concerns separate.</a:t>
            </a:r>
          </a:p>
        </p:txBody>
      </p:sp>
    </p:spTree>
    <p:extLst>
      <p:ext uri="{BB962C8B-B14F-4D97-AF65-F5344CB8AC3E}">
        <p14:creationId xmlns:p14="http://schemas.microsoft.com/office/powerpoint/2010/main" val="199741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17" name="brand">
            <a:extLst>
              <a:ext uri="{FF2B5EF4-FFF2-40B4-BE49-F238E27FC236}">
                <a16:creationId xmlns:a16="http://schemas.microsoft.com/office/drawing/2014/main" id="{756A4FFC-3C24-48A8-8B69-D85238071FCF}"/>
              </a:ext>
            </a:extLst>
          </p:cNvPr>
          <p:cNvSpPr>
            <a:spLocks noGrp="1"/>
          </p:cNvSpPr>
          <p:nvPr/>
        </p:nvSpPr>
        <p:spPr>
          <a:xfrm>
            <a:off x="647700" y="323850"/>
            <a:ext cx="2952750" cy="361950"/>
          </a:xfrm>
          <a:prstGeom prst="rect">
            <a:avLst/>
          </a:prstGeom>
          <a:noFill/>
          <a:ln w="0">
            <a:noFill/>
            <a:prstDash val="solid"/>
          </a:ln>
        </p:spPr>
        <p:txBody>
          <a:bodyPr anchor="ctr"/>
          <a:lstStyle/>
          <a:p>
            <a:pPr algn="l">
              <a:lnSpc>
                <a:spcPct val="105000"/>
              </a:lnSpc>
              <a:buNone/>
              <a:defRPr sz="1875" b="1" i="0">
                <a:solidFill>
                  <a:srgbClr val="FFFFFF"/>
                </a:solidFill>
                <a:latin typeface="Playfair Display"/>
                <a:ea typeface="Playfair Display"/>
                <a:cs typeface="Playfair Display"/>
              </a:defRPr>
            </a:pPr>
            <a:r>
              <a:rPr sz="1875" b="1" i="0">
                <a:solidFill>
                  <a:srgbClr val="FFFFFF"/>
                </a:solidFill>
                <a:latin typeface="Playfair Display"/>
                <a:ea typeface="Playfair Display"/>
                <a:cs typeface="Playfair Display"/>
              </a:rPr>
              <a:t>CAFÉ FAUSSE</a:t>
            </a:r>
          </a:p>
        </p:txBody>
      </p:sp>
      <p:sp>
        <p:nvSpPr>
          <p:cNvPr id="2" name="brand-tagline">
            <a:extLst>
              <a:ext uri="{FF2B5EF4-FFF2-40B4-BE49-F238E27FC236}">
                <a16:creationId xmlns:a16="http://schemas.microsoft.com/office/drawing/2014/main" id="{031D98BE-69C9-497F-BF1B-94EC20FF9489}"/>
              </a:ext>
            </a:extLst>
          </p:cNvPr>
          <p:cNvSpPr>
            <a:spLocks noGrp="1"/>
          </p:cNvSpPr>
          <p:nvPr/>
        </p:nvSpPr>
        <p:spPr>
          <a:xfrm>
            <a:off x="647700" y="666750"/>
            <a:ext cx="3905250" cy="209550"/>
          </a:xfrm>
          <a:prstGeom prst="rect">
            <a:avLst/>
          </a:prstGeom>
          <a:noFill/>
          <a:ln w="0">
            <a:noFill/>
            <a:prstDash val="solid"/>
          </a:ln>
        </p:spPr>
        <p:txBody>
          <a:bodyPr anchor="ctr"/>
          <a:lstStyle/>
          <a:p>
            <a:pPr algn="l">
              <a:lnSpc>
                <a:spcPct val="105000"/>
              </a:lnSpc>
              <a:buNone/>
              <a:defRPr sz="825" b="1" i="0">
                <a:solidFill>
                  <a:srgbClr val="D4B77D"/>
                </a:solidFill>
                <a:latin typeface="Inter"/>
                <a:ea typeface="Inter"/>
                <a:cs typeface="Inter"/>
              </a:defRPr>
            </a:pPr>
            <a:r>
              <a:rPr sz="825" b="1" i="0">
                <a:solidFill>
                  <a:srgbClr val="D4B77D"/>
                </a:solidFill>
                <a:latin typeface="Inter"/>
                <a:ea typeface="Inter"/>
                <a:cs typeface="Inter"/>
              </a:rPr>
              <a:t>FINE DINING &amp; SEASONAL ELEGANCE</a:t>
            </a:r>
          </a:p>
        </p:txBody>
      </p:sp>
      <p:sp>
        <p:nvSpPr>
          <p:cNvPr id="3" name="architecture-title">
            <a:extLst>
              <a:ext uri="{FF2B5EF4-FFF2-40B4-BE49-F238E27FC236}">
                <a16:creationId xmlns:a16="http://schemas.microsoft.com/office/drawing/2014/main" id="{BA8D88B3-29E7-4F9F-86AA-CB1F480D9970}"/>
              </a:ext>
            </a:extLst>
          </p:cNvPr>
          <p:cNvSpPr>
            <a:spLocks noGrp="1"/>
          </p:cNvSpPr>
          <p:nvPr/>
        </p:nvSpPr>
        <p:spPr>
          <a:xfrm>
            <a:off x="647700" y="1238250"/>
            <a:ext cx="7810500" cy="1047750"/>
          </a:xfrm>
          <a:prstGeom prst="rect">
            <a:avLst/>
          </a:prstGeom>
          <a:noFill/>
          <a:ln w="0">
            <a:noFill/>
            <a:prstDash val="solid"/>
          </a:ln>
        </p:spPr>
        <p:txBody>
          <a:bodyPr anchor="ctr"/>
          <a:lstStyle/>
          <a:p>
            <a:pPr algn="l">
              <a:lnSpc>
                <a:spcPct val="92000"/>
              </a:lnSpc>
              <a:buNone/>
              <a:defRPr sz="3000" b="1" i="0">
                <a:solidFill>
                  <a:srgbClr val="FFFFFF"/>
                </a:solidFill>
                <a:latin typeface="Playfair Display"/>
                <a:ea typeface="Playfair Display"/>
                <a:cs typeface="Playfair Display"/>
              </a:defRPr>
            </a:pPr>
            <a:r>
              <a:rPr sz="3000" b="1" i="0">
                <a:solidFill>
                  <a:srgbClr val="FFFFFF"/>
                </a:solidFill>
                <a:latin typeface="Playfair Display"/>
                <a:ea typeface="Playfair Display"/>
                <a:cs typeface="Playfair Display"/>
              </a:rPr>
              <a:t>Three layers keep the solution maintainable</a:t>
            </a:r>
          </a:p>
        </p:txBody>
      </p:sp>
      <p:sp>
        <p:nvSpPr>
          <p:cNvPr id="4" name="architecture-body">
            <a:extLst>
              <a:ext uri="{FF2B5EF4-FFF2-40B4-BE49-F238E27FC236}">
                <a16:creationId xmlns:a16="http://schemas.microsoft.com/office/drawing/2014/main" id="{77C6108A-AD30-4FAE-B2B8-B77704FD0860}"/>
              </a:ext>
            </a:extLst>
          </p:cNvPr>
          <p:cNvSpPr>
            <a:spLocks noGrp="1"/>
          </p:cNvSpPr>
          <p:nvPr/>
        </p:nvSpPr>
        <p:spPr>
          <a:xfrm>
            <a:off x="647700" y="2362200"/>
            <a:ext cx="7239000" cy="685800"/>
          </a:xfrm>
          <a:prstGeom prst="rect">
            <a:avLst/>
          </a:prstGeom>
          <a:noFill/>
          <a:ln w="0">
            <a:noFill/>
            <a:prstDash val="solid"/>
          </a:ln>
        </p:spPr>
        <p:txBody>
          <a:bodyPr anchor="ctr"/>
          <a:lstStyle/>
          <a:p>
            <a:pPr algn="l">
              <a:lnSpc>
                <a:spcPct val="115000"/>
              </a:lnSpc>
              <a:buNone/>
              <a:defRPr sz="1350" b="0" i="0">
                <a:solidFill>
                  <a:srgbClr val="FFFFFF">
                    <a:alpha val="72000"/>
                  </a:srgbClr>
                </a:solidFill>
                <a:latin typeface="Inter"/>
                <a:ea typeface="Inter"/>
                <a:cs typeface="Inter"/>
              </a:defRPr>
            </a:pPr>
            <a:r>
              <a:rPr sz="1350" b="0" i="0">
                <a:solidFill>
                  <a:srgbClr val="FFFFFF">
                    <a:alpha val="72000"/>
                  </a:srgbClr>
                </a:solidFill>
                <a:latin typeface="Inter"/>
                <a:ea typeface="Inter"/>
                <a:cs typeface="Inter"/>
              </a:rPr>
              <a:t>The implementation separates the customer experience from application logic and persistent data. This reduces coupling and creates a practical foundation for future features.</a:t>
            </a:r>
          </a:p>
        </p:txBody>
      </p:sp>
      <p:sp>
        <p:nvSpPr>
          <p:cNvPr id="5" name="layer-rule-REACT">
            <a:extLst>
              <a:ext uri="{FF2B5EF4-FFF2-40B4-BE49-F238E27FC236}">
                <a16:creationId xmlns:a16="http://schemas.microsoft.com/office/drawing/2014/main" id="{E4E5ACD9-5F9C-43CF-B0F1-0E1C797A0796}"/>
              </a:ext>
            </a:extLst>
          </p:cNvPr>
          <p:cNvSpPr>
            <a:spLocks noGrp="1"/>
          </p:cNvSpPr>
          <p:nvPr/>
        </p:nvSpPr>
        <p:spPr>
          <a:xfrm>
            <a:off x="647700" y="3171825"/>
            <a:ext cx="2095500" cy="38100"/>
          </a:xfrm>
          <a:prstGeom prst="rect">
            <a:avLst/>
          </a:prstGeom>
          <a:solidFill>
            <a:srgbClr val="A97417"/>
          </a:solidFill>
          <a:ln w="0">
            <a:noFill/>
            <a:prstDash val="solid"/>
          </a:ln>
        </p:spPr>
        <p:txBody>
          <a:bodyPr/>
          <a:lstStyle/>
          <a:p>
            <a:endParaRPr lang="en-ZA"/>
          </a:p>
        </p:txBody>
      </p:sp>
      <p:sp>
        <p:nvSpPr>
          <p:cNvPr id="6" name="layer-tech-REACT">
            <a:extLst>
              <a:ext uri="{FF2B5EF4-FFF2-40B4-BE49-F238E27FC236}">
                <a16:creationId xmlns:a16="http://schemas.microsoft.com/office/drawing/2014/main" id="{5E345786-9C19-48CC-91E7-75DC6356A102}"/>
              </a:ext>
            </a:extLst>
          </p:cNvPr>
          <p:cNvSpPr>
            <a:spLocks noGrp="1"/>
          </p:cNvSpPr>
          <p:nvPr/>
        </p:nvSpPr>
        <p:spPr>
          <a:xfrm>
            <a:off x="647700" y="3371850"/>
            <a:ext cx="2095500" cy="285750"/>
          </a:xfrm>
          <a:prstGeom prst="rect">
            <a:avLst/>
          </a:prstGeom>
          <a:noFill/>
          <a:ln w="0">
            <a:noFill/>
            <a:prstDash val="solid"/>
          </a:ln>
        </p:spPr>
        <p:txBody>
          <a:bodyPr anchor="ctr"/>
          <a:lstStyle/>
          <a:p>
            <a:pPr algn="l">
              <a:lnSpc>
                <a:spcPct val="105000"/>
              </a:lnSpc>
              <a:buNone/>
              <a:defRPr sz="975" b="1" i="0">
                <a:solidFill>
                  <a:srgbClr val="D4B77D"/>
                </a:solidFill>
                <a:latin typeface="Inter"/>
                <a:ea typeface="Inter"/>
                <a:cs typeface="Inter"/>
              </a:defRPr>
            </a:pPr>
            <a:r>
              <a:rPr sz="975" b="1" i="0">
                <a:solidFill>
                  <a:srgbClr val="D4B77D"/>
                </a:solidFill>
                <a:latin typeface="Inter"/>
                <a:ea typeface="Inter"/>
                <a:cs typeface="Inter"/>
              </a:rPr>
              <a:t>REACT</a:t>
            </a:r>
          </a:p>
        </p:txBody>
      </p:sp>
      <p:sp>
        <p:nvSpPr>
          <p:cNvPr id="7" name="layer-title-REACT">
            <a:extLst>
              <a:ext uri="{FF2B5EF4-FFF2-40B4-BE49-F238E27FC236}">
                <a16:creationId xmlns:a16="http://schemas.microsoft.com/office/drawing/2014/main" id="{26F41B20-7DFC-44CA-9A6C-4DBA7E673FBF}"/>
              </a:ext>
            </a:extLst>
          </p:cNvPr>
          <p:cNvSpPr>
            <a:spLocks noGrp="1"/>
          </p:cNvSpPr>
          <p:nvPr/>
        </p:nvSpPr>
        <p:spPr>
          <a:xfrm>
            <a:off x="647700" y="3752850"/>
            <a:ext cx="2095500" cy="400050"/>
          </a:xfrm>
          <a:prstGeom prst="rect">
            <a:avLst/>
          </a:prstGeom>
          <a:noFill/>
          <a:ln w="0">
            <a:noFill/>
            <a:prstDash val="solid"/>
          </a:ln>
        </p:spPr>
        <p:txBody>
          <a:bodyPr anchor="ctr"/>
          <a:lstStyle/>
          <a:p>
            <a:pPr algn="l">
              <a:lnSpc>
                <a:spcPct val="105000"/>
              </a:lnSpc>
              <a:buNone/>
              <a:defRPr sz="2025" b="1" i="0">
                <a:solidFill>
                  <a:srgbClr val="FFFFFF"/>
                </a:solidFill>
                <a:latin typeface="Playfair Display"/>
                <a:ea typeface="Playfair Display"/>
                <a:cs typeface="Playfair Display"/>
              </a:defRPr>
            </a:pPr>
            <a:r>
              <a:rPr sz="2025" b="1" i="0">
                <a:solidFill>
                  <a:srgbClr val="FFFFFF"/>
                </a:solidFill>
                <a:latin typeface="Playfair Display"/>
                <a:ea typeface="Playfair Display"/>
                <a:cs typeface="Playfair Display"/>
              </a:rPr>
              <a:t>Presentation</a:t>
            </a:r>
          </a:p>
        </p:txBody>
      </p:sp>
      <p:sp>
        <p:nvSpPr>
          <p:cNvPr id="8" name="layer-body-REACT">
            <a:extLst>
              <a:ext uri="{FF2B5EF4-FFF2-40B4-BE49-F238E27FC236}">
                <a16:creationId xmlns:a16="http://schemas.microsoft.com/office/drawing/2014/main" id="{2643BD32-4FA6-455C-BDB5-10DC9FB7FE81}"/>
              </a:ext>
            </a:extLst>
          </p:cNvPr>
          <p:cNvSpPr>
            <a:spLocks noGrp="1"/>
          </p:cNvSpPr>
          <p:nvPr/>
        </p:nvSpPr>
        <p:spPr>
          <a:xfrm>
            <a:off x="647700" y="4305300"/>
            <a:ext cx="2190750" cy="1200150"/>
          </a:xfrm>
          <a:prstGeom prst="rect">
            <a:avLst/>
          </a:prstGeom>
          <a:noFill/>
          <a:ln w="0">
            <a:noFill/>
            <a:prstDash val="solid"/>
          </a:ln>
        </p:spPr>
        <p:txBody>
          <a:bodyPr anchor="ctr"/>
          <a:lstStyle/>
          <a:p>
            <a:pPr algn="l">
              <a:lnSpc>
                <a:spcPct val="118000"/>
              </a:lnSpc>
              <a:buNone/>
              <a:defRPr sz="1275" b="0" i="0">
                <a:solidFill>
                  <a:srgbClr val="FFFFFF">
                    <a:alpha val="68000"/>
                  </a:srgbClr>
                </a:solidFill>
                <a:latin typeface="Inter"/>
                <a:ea typeface="Inter"/>
                <a:cs typeface="Inter"/>
              </a:defRPr>
            </a:pPr>
            <a:r>
              <a:rPr sz="1275" b="0" i="0">
                <a:solidFill>
                  <a:srgbClr val="FFFFFF">
                    <a:alpha val="68000"/>
                  </a:srgbClr>
                </a:solidFill>
                <a:latin typeface="Inter"/>
                <a:ea typeface="Inter"/>
                <a:cs typeface="Inter"/>
              </a:rPr>
              <a:t>Responsive pages, reusable components, navigation, cart and checkout state.</a:t>
            </a:r>
          </a:p>
        </p:txBody>
      </p:sp>
      <p:sp>
        <p:nvSpPr>
          <p:cNvPr id="9" name="layer-rule-FLASK">
            <a:extLst>
              <a:ext uri="{FF2B5EF4-FFF2-40B4-BE49-F238E27FC236}">
                <a16:creationId xmlns:a16="http://schemas.microsoft.com/office/drawing/2014/main" id="{756D88F6-809D-44B8-986D-286E4E83342F}"/>
              </a:ext>
            </a:extLst>
          </p:cNvPr>
          <p:cNvSpPr>
            <a:spLocks noGrp="1"/>
          </p:cNvSpPr>
          <p:nvPr/>
        </p:nvSpPr>
        <p:spPr>
          <a:xfrm>
            <a:off x="3219450" y="3171825"/>
            <a:ext cx="2095500" cy="38100"/>
          </a:xfrm>
          <a:prstGeom prst="rect">
            <a:avLst/>
          </a:prstGeom>
          <a:solidFill>
            <a:srgbClr val="D4B77D"/>
          </a:solidFill>
          <a:ln w="0">
            <a:noFill/>
            <a:prstDash val="solid"/>
          </a:ln>
        </p:spPr>
        <p:txBody>
          <a:bodyPr/>
          <a:lstStyle/>
          <a:p>
            <a:endParaRPr lang="en-ZA"/>
          </a:p>
        </p:txBody>
      </p:sp>
      <p:sp>
        <p:nvSpPr>
          <p:cNvPr id="10" name="layer-tech-FLASK">
            <a:extLst>
              <a:ext uri="{FF2B5EF4-FFF2-40B4-BE49-F238E27FC236}">
                <a16:creationId xmlns:a16="http://schemas.microsoft.com/office/drawing/2014/main" id="{2B7C3D44-81B3-4576-860C-2CBDF521AD6A}"/>
              </a:ext>
            </a:extLst>
          </p:cNvPr>
          <p:cNvSpPr>
            <a:spLocks noGrp="1"/>
          </p:cNvSpPr>
          <p:nvPr/>
        </p:nvSpPr>
        <p:spPr>
          <a:xfrm>
            <a:off x="3219450" y="3371850"/>
            <a:ext cx="2095500" cy="285750"/>
          </a:xfrm>
          <a:prstGeom prst="rect">
            <a:avLst/>
          </a:prstGeom>
          <a:noFill/>
          <a:ln w="0">
            <a:noFill/>
            <a:prstDash val="solid"/>
          </a:ln>
        </p:spPr>
        <p:txBody>
          <a:bodyPr anchor="ctr"/>
          <a:lstStyle/>
          <a:p>
            <a:pPr algn="l">
              <a:lnSpc>
                <a:spcPct val="105000"/>
              </a:lnSpc>
              <a:buNone/>
              <a:defRPr sz="975" b="1" i="0">
                <a:solidFill>
                  <a:srgbClr val="D4B77D"/>
                </a:solidFill>
                <a:latin typeface="Inter"/>
                <a:ea typeface="Inter"/>
                <a:cs typeface="Inter"/>
              </a:defRPr>
            </a:pPr>
            <a:r>
              <a:rPr sz="975" b="1" i="0">
                <a:solidFill>
                  <a:srgbClr val="D4B77D"/>
                </a:solidFill>
                <a:latin typeface="Inter"/>
                <a:ea typeface="Inter"/>
                <a:cs typeface="Inter"/>
              </a:rPr>
              <a:t>FLASK</a:t>
            </a:r>
          </a:p>
        </p:txBody>
      </p:sp>
      <p:sp>
        <p:nvSpPr>
          <p:cNvPr id="11" name="layer-title-FLASK">
            <a:extLst>
              <a:ext uri="{FF2B5EF4-FFF2-40B4-BE49-F238E27FC236}">
                <a16:creationId xmlns:a16="http://schemas.microsoft.com/office/drawing/2014/main" id="{79ED0D7C-D7FF-4C73-8DDE-9BFA3E2CA233}"/>
              </a:ext>
            </a:extLst>
          </p:cNvPr>
          <p:cNvSpPr>
            <a:spLocks noGrp="1"/>
          </p:cNvSpPr>
          <p:nvPr/>
        </p:nvSpPr>
        <p:spPr>
          <a:xfrm>
            <a:off x="3219450" y="3752850"/>
            <a:ext cx="2095500" cy="400050"/>
          </a:xfrm>
          <a:prstGeom prst="rect">
            <a:avLst/>
          </a:prstGeom>
          <a:noFill/>
          <a:ln w="0">
            <a:noFill/>
            <a:prstDash val="solid"/>
          </a:ln>
        </p:spPr>
        <p:txBody>
          <a:bodyPr anchor="ctr"/>
          <a:lstStyle/>
          <a:p>
            <a:pPr algn="l">
              <a:lnSpc>
                <a:spcPct val="105000"/>
              </a:lnSpc>
              <a:buNone/>
              <a:defRPr sz="2025" b="1" i="0">
                <a:solidFill>
                  <a:srgbClr val="FFFFFF"/>
                </a:solidFill>
                <a:latin typeface="Playfair Display"/>
                <a:ea typeface="Playfair Display"/>
                <a:cs typeface="Playfair Display"/>
              </a:defRPr>
            </a:pPr>
            <a:r>
              <a:rPr sz="2025" b="1" i="0">
                <a:solidFill>
                  <a:srgbClr val="FFFFFF"/>
                </a:solidFill>
                <a:latin typeface="Playfair Display"/>
                <a:ea typeface="Playfair Display"/>
                <a:cs typeface="Playfair Display"/>
              </a:rPr>
              <a:t>Application</a:t>
            </a:r>
          </a:p>
        </p:txBody>
      </p:sp>
      <p:sp>
        <p:nvSpPr>
          <p:cNvPr id="12" name="layer-body-FLASK">
            <a:extLst>
              <a:ext uri="{FF2B5EF4-FFF2-40B4-BE49-F238E27FC236}">
                <a16:creationId xmlns:a16="http://schemas.microsoft.com/office/drawing/2014/main" id="{7502A3A5-7BBE-4FCE-9FA3-6C2C8D1A748E}"/>
              </a:ext>
            </a:extLst>
          </p:cNvPr>
          <p:cNvSpPr>
            <a:spLocks noGrp="1"/>
          </p:cNvSpPr>
          <p:nvPr/>
        </p:nvSpPr>
        <p:spPr>
          <a:xfrm>
            <a:off x="3219450" y="4305300"/>
            <a:ext cx="2190750" cy="1200150"/>
          </a:xfrm>
          <a:prstGeom prst="rect">
            <a:avLst/>
          </a:prstGeom>
          <a:noFill/>
          <a:ln w="0">
            <a:noFill/>
            <a:prstDash val="solid"/>
          </a:ln>
        </p:spPr>
        <p:txBody>
          <a:bodyPr anchor="ctr"/>
          <a:lstStyle/>
          <a:p>
            <a:pPr algn="l">
              <a:lnSpc>
                <a:spcPct val="118000"/>
              </a:lnSpc>
              <a:buNone/>
              <a:defRPr sz="1275" b="0" i="0">
                <a:solidFill>
                  <a:srgbClr val="FFFFFF">
                    <a:alpha val="68000"/>
                  </a:srgbClr>
                </a:solidFill>
                <a:latin typeface="Inter"/>
                <a:ea typeface="Inter"/>
                <a:cs typeface="Inter"/>
              </a:defRPr>
            </a:pPr>
            <a:r>
              <a:rPr sz="1275" b="0" i="0">
                <a:solidFill>
                  <a:srgbClr val="FFFFFF">
                    <a:alpha val="68000"/>
                  </a:srgbClr>
                </a:solidFill>
                <a:latin typeface="Inter"/>
                <a:ea typeface="Inter"/>
                <a:cs typeface="Inter"/>
              </a:rPr>
              <a:t>REST APIs, validation, authentication, business logic and database access.</a:t>
            </a:r>
          </a:p>
        </p:txBody>
      </p:sp>
      <p:sp>
        <p:nvSpPr>
          <p:cNvPr id="13" name="layer-rule-POSTGRESQL">
            <a:extLst>
              <a:ext uri="{FF2B5EF4-FFF2-40B4-BE49-F238E27FC236}">
                <a16:creationId xmlns:a16="http://schemas.microsoft.com/office/drawing/2014/main" id="{9247F91A-EF67-4C63-871D-F9CD60541571}"/>
              </a:ext>
            </a:extLst>
          </p:cNvPr>
          <p:cNvSpPr>
            <a:spLocks noGrp="1"/>
          </p:cNvSpPr>
          <p:nvPr/>
        </p:nvSpPr>
        <p:spPr>
          <a:xfrm>
            <a:off x="5791200" y="3171825"/>
            <a:ext cx="2095500" cy="38100"/>
          </a:xfrm>
          <a:prstGeom prst="rect">
            <a:avLst/>
          </a:prstGeom>
          <a:solidFill>
            <a:srgbClr val="A97417"/>
          </a:solidFill>
          <a:ln w="0">
            <a:noFill/>
            <a:prstDash val="solid"/>
          </a:ln>
        </p:spPr>
        <p:txBody>
          <a:bodyPr/>
          <a:lstStyle/>
          <a:p>
            <a:endParaRPr lang="en-ZA"/>
          </a:p>
        </p:txBody>
      </p:sp>
      <p:sp>
        <p:nvSpPr>
          <p:cNvPr id="14" name="layer-tech-POSTGRESQL">
            <a:extLst>
              <a:ext uri="{FF2B5EF4-FFF2-40B4-BE49-F238E27FC236}">
                <a16:creationId xmlns:a16="http://schemas.microsoft.com/office/drawing/2014/main" id="{7001A2F5-4E68-4495-BCF2-14AE4F8C6129}"/>
              </a:ext>
            </a:extLst>
          </p:cNvPr>
          <p:cNvSpPr>
            <a:spLocks noGrp="1"/>
          </p:cNvSpPr>
          <p:nvPr/>
        </p:nvSpPr>
        <p:spPr>
          <a:xfrm>
            <a:off x="5791200" y="3371850"/>
            <a:ext cx="2095500" cy="285750"/>
          </a:xfrm>
          <a:prstGeom prst="rect">
            <a:avLst/>
          </a:prstGeom>
          <a:noFill/>
          <a:ln w="0">
            <a:noFill/>
            <a:prstDash val="solid"/>
          </a:ln>
        </p:spPr>
        <p:txBody>
          <a:bodyPr anchor="ctr"/>
          <a:lstStyle/>
          <a:p>
            <a:pPr algn="l">
              <a:lnSpc>
                <a:spcPct val="105000"/>
              </a:lnSpc>
              <a:buNone/>
              <a:defRPr sz="975" b="1" i="0">
                <a:solidFill>
                  <a:srgbClr val="D4B77D"/>
                </a:solidFill>
                <a:latin typeface="Inter"/>
                <a:ea typeface="Inter"/>
                <a:cs typeface="Inter"/>
              </a:defRPr>
            </a:pPr>
            <a:r>
              <a:rPr sz="975" b="1" i="0">
                <a:solidFill>
                  <a:srgbClr val="D4B77D"/>
                </a:solidFill>
                <a:latin typeface="Inter"/>
                <a:ea typeface="Inter"/>
                <a:cs typeface="Inter"/>
              </a:rPr>
              <a:t>POSTGRESQL</a:t>
            </a:r>
          </a:p>
        </p:txBody>
      </p:sp>
      <p:sp>
        <p:nvSpPr>
          <p:cNvPr id="15" name="layer-title-POSTGRESQL">
            <a:extLst>
              <a:ext uri="{FF2B5EF4-FFF2-40B4-BE49-F238E27FC236}">
                <a16:creationId xmlns:a16="http://schemas.microsoft.com/office/drawing/2014/main" id="{68991248-5ED0-46B4-AFDA-A3705711D1E2}"/>
              </a:ext>
            </a:extLst>
          </p:cNvPr>
          <p:cNvSpPr>
            <a:spLocks noGrp="1"/>
          </p:cNvSpPr>
          <p:nvPr/>
        </p:nvSpPr>
        <p:spPr>
          <a:xfrm>
            <a:off x="5791200" y="3752850"/>
            <a:ext cx="2095500" cy="400050"/>
          </a:xfrm>
          <a:prstGeom prst="rect">
            <a:avLst/>
          </a:prstGeom>
          <a:noFill/>
          <a:ln w="0">
            <a:noFill/>
            <a:prstDash val="solid"/>
          </a:ln>
        </p:spPr>
        <p:txBody>
          <a:bodyPr anchor="ctr"/>
          <a:lstStyle/>
          <a:p>
            <a:pPr algn="l">
              <a:lnSpc>
                <a:spcPct val="105000"/>
              </a:lnSpc>
              <a:buNone/>
              <a:defRPr sz="2025" b="1" i="0">
                <a:solidFill>
                  <a:srgbClr val="FFFFFF"/>
                </a:solidFill>
                <a:latin typeface="Playfair Display"/>
                <a:ea typeface="Playfair Display"/>
                <a:cs typeface="Playfair Display"/>
              </a:defRPr>
            </a:pPr>
            <a:r>
              <a:rPr sz="2025" b="1" i="0">
                <a:solidFill>
                  <a:srgbClr val="FFFFFF"/>
                </a:solidFill>
                <a:latin typeface="Playfair Display"/>
                <a:ea typeface="Playfair Display"/>
                <a:cs typeface="Playfair Display"/>
              </a:rPr>
              <a:t>Data</a:t>
            </a:r>
          </a:p>
        </p:txBody>
      </p:sp>
      <p:sp>
        <p:nvSpPr>
          <p:cNvPr id="16" name="layer-body-POSTGRESQL">
            <a:extLst>
              <a:ext uri="{FF2B5EF4-FFF2-40B4-BE49-F238E27FC236}">
                <a16:creationId xmlns:a16="http://schemas.microsoft.com/office/drawing/2014/main" id="{4943E040-237C-4251-9157-FC141D0BC0AB}"/>
              </a:ext>
            </a:extLst>
          </p:cNvPr>
          <p:cNvSpPr>
            <a:spLocks noGrp="1"/>
          </p:cNvSpPr>
          <p:nvPr/>
        </p:nvSpPr>
        <p:spPr>
          <a:xfrm>
            <a:off x="5791200" y="4305300"/>
            <a:ext cx="2190750" cy="1200150"/>
          </a:xfrm>
          <a:prstGeom prst="rect">
            <a:avLst/>
          </a:prstGeom>
          <a:noFill/>
          <a:ln w="0">
            <a:noFill/>
            <a:prstDash val="solid"/>
          </a:ln>
        </p:spPr>
        <p:txBody>
          <a:bodyPr anchor="ctr"/>
          <a:lstStyle/>
          <a:p>
            <a:pPr algn="l">
              <a:lnSpc>
                <a:spcPct val="118000"/>
              </a:lnSpc>
              <a:buNone/>
              <a:defRPr sz="1275" b="0" i="0">
                <a:solidFill>
                  <a:srgbClr val="FFFFFF">
                    <a:alpha val="68000"/>
                  </a:srgbClr>
                </a:solidFill>
                <a:latin typeface="Inter"/>
                <a:ea typeface="Inter"/>
                <a:cs typeface="Inter"/>
              </a:defRPr>
            </a:pPr>
            <a:r>
              <a:rPr sz="1275" b="0" i="0">
                <a:solidFill>
                  <a:srgbClr val="FFFFFF">
                    <a:alpha val="68000"/>
                  </a:srgbClr>
                </a:solidFill>
                <a:latin typeface="Inter"/>
                <a:ea typeface="Inter"/>
                <a:cs typeface="Inter"/>
              </a:rPr>
              <a:t>Menu items, reservations, orders, order items, subscribers and staff records.</a:t>
            </a:r>
          </a:p>
        </p:txBody>
      </p:sp>
      <p:pic>
        <p:nvPicPr>
          <p:cNvPr id="37" name="Picture 36"/>
          <p:cNvPicPr>
            <a:picLocks noChangeAspect="1"/>
          </p:cNvPicPr>
          <p:nvPr/>
        </p:nvPicPr>
        <p:blipFill>
          <a:blip r:embed="rId3"/>
          <a:srcRect l="30806" r="30806"/>
          <a:stretch>
            <a:fillRect/>
          </a:stretch>
        </p:blipFill>
        <p:spPr>
          <a:xfrm>
            <a:off x="8458200" y="1247775"/>
            <a:ext cx="3086100" cy="4524375"/>
          </a:xfrm>
          <a:prstGeom prst="roundRect">
            <a:avLst>
              <a:gd name="adj" fmla="val 4938"/>
            </a:avLst>
          </a:prstGeom>
        </p:spPr>
      </p:pic>
      <p:sp>
        <p:nvSpPr>
          <p:cNvPr id="18" name="footer-rule-6">
            <a:extLst>
              <a:ext uri="{FF2B5EF4-FFF2-40B4-BE49-F238E27FC236}">
                <a16:creationId xmlns:a16="http://schemas.microsoft.com/office/drawing/2014/main" id="{6750BF7E-2372-49EA-8C2A-A0236A7EC082}"/>
              </a:ext>
            </a:extLst>
          </p:cNvPr>
          <p:cNvSpPr>
            <a:spLocks noGrp="1"/>
          </p:cNvSpPr>
          <p:nvPr/>
        </p:nvSpPr>
        <p:spPr>
          <a:xfrm>
            <a:off x="647700" y="6419850"/>
            <a:ext cx="10896600" cy="19050"/>
          </a:xfrm>
          <a:prstGeom prst="rect">
            <a:avLst/>
          </a:prstGeom>
          <a:solidFill>
            <a:srgbClr val="FFFFFF">
              <a:alpha val="18000"/>
            </a:srgbClr>
          </a:solidFill>
          <a:ln w="0">
            <a:noFill/>
            <a:prstDash val="solid"/>
          </a:ln>
        </p:spPr>
        <p:txBody>
          <a:bodyPr/>
          <a:lstStyle/>
          <a:p>
            <a:endParaRPr lang="en-ZA"/>
          </a:p>
        </p:txBody>
      </p:sp>
      <p:sp>
        <p:nvSpPr>
          <p:cNvPr id="19" name="footer-label-6">
            <a:extLst>
              <a:ext uri="{FF2B5EF4-FFF2-40B4-BE49-F238E27FC236}">
                <a16:creationId xmlns:a16="http://schemas.microsoft.com/office/drawing/2014/main" id="{11472790-D665-40BA-B3E6-A0252CD46379}"/>
              </a:ext>
            </a:extLst>
          </p:cNvPr>
          <p:cNvSpPr>
            <a:spLocks noGrp="1"/>
          </p:cNvSpPr>
          <p:nvPr/>
        </p:nvSpPr>
        <p:spPr>
          <a:xfrm>
            <a:off x="647700" y="6477000"/>
            <a:ext cx="4191000" cy="190500"/>
          </a:xfrm>
          <a:prstGeom prst="rect">
            <a:avLst/>
          </a:prstGeom>
          <a:noFill/>
          <a:ln w="0">
            <a:noFill/>
            <a:prstDash val="solid"/>
          </a:ln>
        </p:spPr>
        <p:txBody>
          <a:bodyPr anchor="ctr"/>
          <a:lstStyle/>
          <a:p>
            <a:pPr algn="l">
              <a:lnSpc>
                <a:spcPct val="105000"/>
              </a:lnSpc>
              <a:buNone/>
              <a:defRPr sz="750" b="1" i="0">
                <a:solidFill>
                  <a:srgbClr val="FFFFFF">
                    <a:alpha val="70000"/>
                  </a:srgbClr>
                </a:solidFill>
                <a:latin typeface="Inter"/>
                <a:ea typeface="Inter"/>
                <a:cs typeface="Inter"/>
              </a:defRPr>
            </a:pPr>
            <a:r>
              <a:rPr sz="750" b="1" i="0">
                <a:solidFill>
                  <a:srgbClr val="FFFFFF">
                    <a:alpha val="70000"/>
                  </a:srgbClr>
                </a:solidFill>
                <a:latin typeface="Inter"/>
                <a:ea typeface="Inter"/>
                <a:cs typeface="Inter"/>
              </a:rPr>
              <a:t>CAFÉ FAUSSE RESTAURANT PLATFORM</a:t>
            </a:r>
          </a:p>
        </p:txBody>
      </p:sp>
      <p:sp>
        <p:nvSpPr>
          <p:cNvPr id="20" name="footer-number-6">
            <a:extLst>
              <a:ext uri="{FF2B5EF4-FFF2-40B4-BE49-F238E27FC236}">
                <a16:creationId xmlns:a16="http://schemas.microsoft.com/office/drawing/2014/main" id="{C45CDD46-AF8E-468C-8D9E-5F80CE3371F2}"/>
              </a:ext>
            </a:extLst>
          </p:cNvPr>
          <p:cNvSpPr>
            <a:spLocks noGrp="1"/>
          </p:cNvSpPr>
          <p:nvPr/>
        </p:nvSpPr>
        <p:spPr>
          <a:xfrm>
            <a:off x="11049000" y="6477000"/>
            <a:ext cx="476250" cy="190500"/>
          </a:xfrm>
          <a:prstGeom prst="rect">
            <a:avLst/>
          </a:prstGeom>
          <a:noFill/>
          <a:ln w="0">
            <a:noFill/>
            <a:prstDash val="solid"/>
          </a:ln>
        </p:spPr>
        <p:txBody>
          <a:bodyPr anchor="ctr"/>
          <a:lstStyle/>
          <a:p>
            <a:pPr algn="r">
              <a:lnSpc>
                <a:spcPct val="105000"/>
              </a:lnSpc>
              <a:buNone/>
              <a:defRPr sz="750" b="1" i="0">
                <a:solidFill>
                  <a:srgbClr val="D4B77D"/>
                </a:solidFill>
                <a:latin typeface="Inter"/>
                <a:ea typeface="Inter"/>
                <a:cs typeface="Inter"/>
              </a:defRPr>
            </a:pPr>
            <a:r>
              <a:rPr sz="750" b="1" i="0">
                <a:solidFill>
                  <a:srgbClr val="D4B77D"/>
                </a:solidFill>
                <a:latin typeface="Inter"/>
                <a:ea typeface="Inter"/>
                <a:cs typeface="Inter"/>
              </a:rPr>
              <a:t>06</a:t>
            </a:r>
          </a:p>
        </p:txBody>
      </p:sp>
    </p:spTree>
    <p:extLst>
      <p:ext uri="{BB962C8B-B14F-4D97-AF65-F5344CB8AC3E}">
        <p14:creationId xmlns:p14="http://schemas.microsoft.com/office/powerpoint/2010/main" val="142457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5" name="brand">
            <a:extLst>
              <a:ext uri="{FF2B5EF4-FFF2-40B4-BE49-F238E27FC236}">
                <a16:creationId xmlns:a16="http://schemas.microsoft.com/office/drawing/2014/main" id="{E4F6A110-4F21-4BF4-9259-28E8AAFC24F6}"/>
              </a:ext>
            </a:extLst>
          </p:cNvPr>
          <p:cNvSpPr>
            <a:spLocks noGrp="1"/>
          </p:cNvSpPr>
          <p:nvPr/>
        </p:nvSpPr>
        <p:spPr>
          <a:xfrm>
            <a:off x="647700" y="323850"/>
            <a:ext cx="2952750" cy="361950"/>
          </a:xfrm>
          <a:prstGeom prst="rect">
            <a:avLst/>
          </a:prstGeom>
          <a:noFill/>
          <a:ln w="0">
            <a:noFill/>
            <a:prstDash val="solid"/>
          </a:ln>
        </p:spPr>
        <p:txBody>
          <a:bodyPr anchor="ctr"/>
          <a:lstStyle/>
          <a:p>
            <a:pPr algn="l">
              <a:lnSpc>
                <a:spcPct val="105000"/>
              </a:lnSpc>
              <a:buNone/>
              <a:defRPr sz="1875" b="1" i="0">
                <a:solidFill>
                  <a:srgbClr val="111111"/>
                </a:solidFill>
                <a:latin typeface="Playfair Display"/>
                <a:ea typeface="Playfair Display"/>
                <a:cs typeface="Playfair Display"/>
              </a:defRPr>
            </a:pPr>
            <a:r>
              <a:rPr sz="1875" b="1" i="0">
                <a:solidFill>
                  <a:srgbClr val="111111"/>
                </a:solidFill>
                <a:latin typeface="Playfair Display"/>
                <a:ea typeface="Playfair Display"/>
                <a:cs typeface="Playfair Display"/>
              </a:rPr>
              <a:t>CAFÉ FAUSSE</a:t>
            </a:r>
          </a:p>
        </p:txBody>
      </p:sp>
      <p:sp>
        <p:nvSpPr>
          <p:cNvPr id="2" name="brand-tagline">
            <a:extLst>
              <a:ext uri="{FF2B5EF4-FFF2-40B4-BE49-F238E27FC236}">
                <a16:creationId xmlns:a16="http://schemas.microsoft.com/office/drawing/2014/main" id="{B7D9AAE8-39C9-4C0D-BA41-C2F7214ACBC1}"/>
              </a:ext>
            </a:extLst>
          </p:cNvPr>
          <p:cNvSpPr>
            <a:spLocks noGrp="1"/>
          </p:cNvSpPr>
          <p:nvPr/>
        </p:nvSpPr>
        <p:spPr>
          <a:xfrm>
            <a:off x="647700" y="666750"/>
            <a:ext cx="3905250" cy="209550"/>
          </a:xfrm>
          <a:prstGeom prst="rect">
            <a:avLst/>
          </a:prstGeom>
          <a:noFill/>
          <a:ln w="0">
            <a:noFill/>
            <a:prstDash val="solid"/>
          </a:ln>
        </p:spPr>
        <p:txBody>
          <a:bodyPr anchor="ctr"/>
          <a:lstStyle/>
          <a:p>
            <a:pPr algn="l">
              <a:lnSpc>
                <a:spcPct val="105000"/>
              </a:lnSpc>
              <a:buNone/>
              <a:defRPr sz="825" b="1" i="0">
                <a:solidFill>
                  <a:srgbClr val="A97417"/>
                </a:solidFill>
                <a:latin typeface="Inter"/>
                <a:ea typeface="Inter"/>
                <a:cs typeface="Inter"/>
              </a:defRPr>
            </a:pPr>
            <a:r>
              <a:rPr sz="825" b="1" i="0">
                <a:solidFill>
                  <a:srgbClr val="A97417"/>
                </a:solidFill>
                <a:latin typeface="Inter"/>
                <a:ea typeface="Inter"/>
                <a:cs typeface="Inter"/>
              </a:rPr>
              <a:t>FINE DINING &amp; SEASONAL ELEGANCE</a:t>
            </a:r>
          </a:p>
        </p:txBody>
      </p:sp>
      <p:sp>
        <p:nvSpPr>
          <p:cNvPr id="3" name="demo-eyebrow">
            <a:extLst>
              <a:ext uri="{FF2B5EF4-FFF2-40B4-BE49-F238E27FC236}">
                <a16:creationId xmlns:a16="http://schemas.microsoft.com/office/drawing/2014/main" id="{23DFE8A8-1381-4B23-84DB-A35FF9693468}"/>
              </a:ext>
            </a:extLst>
          </p:cNvPr>
          <p:cNvSpPr>
            <a:spLocks noGrp="1"/>
          </p:cNvSpPr>
          <p:nvPr/>
        </p:nvSpPr>
        <p:spPr>
          <a:xfrm>
            <a:off x="647700" y="1200150"/>
            <a:ext cx="2857500" cy="266700"/>
          </a:xfrm>
          <a:prstGeom prst="rect">
            <a:avLst/>
          </a:prstGeom>
          <a:noFill/>
          <a:ln w="0">
            <a:noFill/>
            <a:prstDash val="solid"/>
          </a:ln>
        </p:spPr>
        <p:txBody>
          <a:bodyPr anchor="ctr"/>
          <a:lstStyle/>
          <a:p>
            <a:pPr algn="l">
              <a:lnSpc>
                <a:spcPct val="105000"/>
              </a:lnSpc>
              <a:buNone/>
              <a:defRPr sz="1050" b="1" i="0">
                <a:solidFill>
                  <a:srgbClr val="A97417"/>
                </a:solidFill>
                <a:latin typeface="Inter"/>
                <a:ea typeface="Inter"/>
                <a:cs typeface="Inter"/>
              </a:defRPr>
            </a:pPr>
            <a:r>
              <a:rPr sz="1050" b="1" i="0">
                <a:solidFill>
                  <a:srgbClr val="A97417"/>
                </a:solidFill>
                <a:latin typeface="Inter"/>
                <a:ea typeface="Inter"/>
                <a:cs typeface="Inter"/>
              </a:rPr>
              <a:t>LIVE DEMONSTRATION</a:t>
            </a:r>
          </a:p>
        </p:txBody>
      </p:sp>
      <p:sp>
        <p:nvSpPr>
          <p:cNvPr id="4" name="demo-title">
            <a:extLst>
              <a:ext uri="{FF2B5EF4-FFF2-40B4-BE49-F238E27FC236}">
                <a16:creationId xmlns:a16="http://schemas.microsoft.com/office/drawing/2014/main" id="{F5F50550-12B0-40A6-9DEB-AC0C6F500477}"/>
              </a:ext>
            </a:extLst>
          </p:cNvPr>
          <p:cNvSpPr>
            <a:spLocks noGrp="1"/>
          </p:cNvSpPr>
          <p:nvPr/>
        </p:nvSpPr>
        <p:spPr>
          <a:xfrm>
            <a:off x="647700" y="1524000"/>
            <a:ext cx="6858000" cy="590550"/>
          </a:xfrm>
          <a:prstGeom prst="rect">
            <a:avLst/>
          </a:prstGeom>
          <a:noFill/>
          <a:ln w="0">
            <a:noFill/>
            <a:prstDash val="solid"/>
          </a:ln>
        </p:spPr>
        <p:txBody>
          <a:bodyPr anchor="ctr"/>
          <a:lstStyle/>
          <a:p>
            <a:pPr algn="l">
              <a:lnSpc>
                <a:spcPct val="105000"/>
              </a:lnSpc>
              <a:buNone/>
              <a:defRPr sz="3600" b="1" i="0">
                <a:solidFill>
                  <a:srgbClr val="111111"/>
                </a:solidFill>
                <a:latin typeface="Playfair Display"/>
                <a:ea typeface="Playfair Display"/>
                <a:cs typeface="Playfair Display"/>
              </a:defRPr>
            </a:pPr>
            <a:r>
              <a:rPr sz="3600" b="1" i="0">
                <a:solidFill>
                  <a:srgbClr val="111111"/>
                </a:solidFill>
                <a:latin typeface="Playfair Display"/>
                <a:ea typeface="Playfair Display"/>
                <a:cs typeface="Playfair Display"/>
              </a:rPr>
              <a:t>See the platform in action</a:t>
            </a:r>
          </a:p>
        </p:txBody>
      </p:sp>
      <p:pic>
        <p:nvPicPr>
          <p:cNvPr id="18" name="Picture 17"/>
          <p:cNvPicPr>
            <a:picLocks noChangeAspect="1"/>
          </p:cNvPicPr>
          <p:nvPr/>
        </p:nvPicPr>
        <p:blipFill>
          <a:blip r:embed="rId3"/>
          <a:srcRect t="166" b="166"/>
          <a:stretch>
            <a:fillRect/>
          </a:stretch>
        </p:blipFill>
        <p:spPr>
          <a:xfrm>
            <a:off x="647700" y="2428875"/>
            <a:ext cx="10896600" cy="3257550"/>
          </a:xfrm>
          <a:prstGeom prst="roundRect">
            <a:avLst>
              <a:gd name="adj" fmla="val 4678"/>
            </a:avLst>
          </a:prstGeom>
        </p:spPr>
      </p:pic>
      <p:sp>
        <p:nvSpPr>
          <p:cNvPr id="6" name="demo-overlay">
            <a:extLst>
              <a:ext uri="{FF2B5EF4-FFF2-40B4-BE49-F238E27FC236}">
                <a16:creationId xmlns:a16="http://schemas.microsoft.com/office/drawing/2014/main" id="{A7118A56-14B1-441A-8314-DFE4F9DF2D16}"/>
              </a:ext>
            </a:extLst>
          </p:cNvPr>
          <p:cNvSpPr>
            <a:spLocks noGrp="1"/>
          </p:cNvSpPr>
          <p:nvPr/>
        </p:nvSpPr>
        <p:spPr>
          <a:xfrm>
            <a:off x="647700" y="2428875"/>
            <a:ext cx="10896600" cy="3257550"/>
          </a:xfrm>
          <a:prstGeom prst="roundRect">
            <a:avLst>
              <a:gd name="adj" fmla="val 2339"/>
            </a:avLst>
          </a:prstGeom>
          <a:solidFill>
            <a:srgbClr val="000000">
              <a:alpha val="58000"/>
            </a:srgbClr>
          </a:solidFill>
          <a:ln w="0">
            <a:noFill/>
            <a:prstDash val="solid"/>
          </a:ln>
        </p:spPr>
        <p:txBody>
          <a:bodyPr/>
          <a:lstStyle/>
          <a:p>
            <a:endParaRPr lang="en-ZA"/>
          </a:p>
        </p:txBody>
      </p:sp>
      <p:sp>
        <p:nvSpPr>
          <p:cNvPr id="7" name="demo-play-circle">
            <a:extLst>
              <a:ext uri="{FF2B5EF4-FFF2-40B4-BE49-F238E27FC236}">
                <a16:creationId xmlns:a16="http://schemas.microsoft.com/office/drawing/2014/main" id="{DE049582-A26A-4CCD-8030-5201A5483DEF}"/>
              </a:ext>
            </a:extLst>
          </p:cNvPr>
          <p:cNvSpPr>
            <a:spLocks noGrp="1"/>
          </p:cNvSpPr>
          <p:nvPr/>
        </p:nvSpPr>
        <p:spPr>
          <a:xfrm>
            <a:off x="5467350" y="3314700"/>
            <a:ext cx="1257300" cy="1257300"/>
          </a:xfrm>
          <a:prstGeom prst="ellipse">
            <a:avLst/>
          </a:prstGeom>
          <a:solidFill>
            <a:srgbClr val="A97417">
              <a:alpha val="92000"/>
            </a:srgbClr>
          </a:solidFill>
          <a:ln w="19050">
            <a:solidFill>
              <a:srgbClr val="FFFFFF">
                <a:alpha val="65000"/>
              </a:srgbClr>
            </a:solidFill>
            <a:prstDash val="solid"/>
          </a:ln>
        </p:spPr>
        <p:txBody>
          <a:bodyPr/>
          <a:lstStyle/>
          <a:p>
            <a:endParaRPr lang="en-ZA"/>
          </a:p>
        </p:txBody>
      </p:sp>
      <p:sp>
        <p:nvSpPr>
          <p:cNvPr id="8" name="demo-play">
            <a:extLst>
              <a:ext uri="{FF2B5EF4-FFF2-40B4-BE49-F238E27FC236}">
                <a16:creationId xmlns:a16="http://schemas.microsoft.com/office/drawing/2014/main" id="{E83A2ED2-121F-47D0-8358-CA2876CCAAED}"/>
              </a:ext>
            </a:extLst>
          </p:cNvPr>
          <p:cNvSpPr>
            <a:spLocks noGrp="1"/>
          </p:cNvSpPr>
          <p:nvPr/>
        </p:nvSpPr>
        <p:spPr>
          <a:xfrm>
            <a:off x="5715000" y="3533775"/>
            <a:ext cx="828675" cy="781050"/>
          </a:xfrm>
          <a:prstGeom prst="rect">
            <a:avLst/>
          </a:prstGeom>
          <a:noFill/>
          <a:ln w="0">
            <a:noFill/>
            <a:prstDash val="solid"/>
          </a:ln>
        </p:spPr>
        <p:txBody>
          <a:bodyPr anchor="ctr"/>
          <a:lstStyle/>
          <a:p>
            <a:pPr algn="ctr">
              <a:lnSpc>
                <a:spcPct val="105000"/>
              </a:lnSpc>
              <a:buNone/>
              <a:defRPr sz="3900" b="0" i="0">
                <a:solidFill>
                  <a:srgbClr val="FFFFFF"/>
                </a:solidFill>
                <a:latin typeface="Inter"/>
                <a:ea typeface="Inter"/>
                <a:cs typeface="Inter"/>
              </a:defRPr>
            </a:pPr>
            <a:r>
              <a:rPr sz="3900" b="0" i="0">
                <a:solidFill>
                  <a:srgbClr val="FFFFFF"/>
                </a:solidFill>
                <a:latin typeface="Inter"/>
                <a:ea typeface="Inter"/>
                <a:cs typeface="Inter"/>
              </a:rPr>
              <a:t>▶</a:t>
            </a:r>
          </a:p>
        </p:txBody>
      </p:sp>
      <p:sp>
        <p:nvSpPr>
          <p:cNvPr id="9" name="demo-placeholder">
            <a:extLst>
              <a:ext uri="{FF2B5EF4-FFF2-40B4-BE49-F238E27FC236}">
                <a16:creationId xmlns:a16="http://schemas.microsoft.com/office/drawing/2014/main" id="{5601A7A3-FA5B-475D-BCDD-7F0272E7175E}"/>
              </a:ext>
            </a:extLst>
          </p:cNvPr>
          <p:cNvSpPr>
            <a:spLocks noGrp="1"/>
          </p:cNvSpPr>
          <p:nvPr/>
        </p:nvSpPr>
        <p:spPr>
          <a:xfrm>
            <a:off x="3714750" y="4829175"/>
            <a:ext cx="4762500" cy="304800"/>
          </a:xfrm>
          <a:prstGeom prst="rect">
            <a:avLst/>
          </a:prstGeom>
          <a:noFill/>
          <a:ln w="0">
            <a:noFill/>
            <a:prstDash val="solid"/>
          </a:ln>
        </p:spPr>
        <p:txBody>
          <a:bodyPr anchor="ctr"/>
          <a:lstStyle/>
          <a:p>
            <a:pPr algn="ctr">
              <a:lnSpc>
                <a:spcPct val="105000"/>
              </a:lnSpc>
              <a:buNone/>
              <a:defRPr sz="1200" b="1" i="0">
                <a:solidFill>
                  <a:srgbClr val="FFFFFF"/>
                </a:solidFill>
                <a:latin typeface="Inter"/>
                <a:ea typeface="Inter"/>
                <a:cs typeface="Inter"/>
              </a:defRPr>
            </a:pPr>
            <a:r>
              <a:rPr sz="1200" b="1" i="0">
                <a:solidFill>
                  <a:srgbClr val="FFFFFF"/>
                </a:solidFill>
                <a:latin typeface="Inter"/>
                <a:ea typeface="Inter"/>
                <a:cs typeface="Inter"/>
              </a:rPr>
              <a:t>INSERT SCREEN RECORDING HERE</a:t>
            </a:r>
          </a:p>
        </p:txBody>
      </p:sp>
      <p:sp>
        <p:nvSpPr>
          <p:cNvPr id="10" name="demo-caption">
            <a:extLst>
              <a:ext uri="{FF2B5EF4-FFF2-40B4-BE49-F238E27FC236}">
                <a16:creationId xmlns:a16="http://schemas.microsoft.com/office/drawing/2014/main" id="{6CD1ED9C-10FA-449C-8E25-13CB22895956}"/>
              </a:ext>
            </a:extLst>
          </p:cNvPr>
          <p:cNvSpPr>
            <a:spLocks noGrp="1"/>
          </p:cNvSpPr>
          <p:nvPr/>
        </p:nvSpPr>
        <p:spPr>
          <a:xfrm>
            <a:off x="2000250" y="5819775"/>
            <a:ext cx="8191500" cy="304800"/>
          </a:xfrm>
          <a:prstGeom prst="rect">
            <a:avLst/>
          </a:prstGeom>
          <a:noFill/>
          <a:ln w="0">
            <a:noFill/>
            <a:prstDash val="solid"/>
          </a:ln>
        </p:spPr>
        <p:txBody>
          <a:bodyPr anchor="ctr"/>
          <a:lstStyle/>
          <a:p>
            <a:pPr algn="ctr">
              <a:lnSpc>
                <a:spcPct val="105000"/>
              </a:lnSpc>
              <a:buNone/>
              <a:defRPr sz="1275" b="0" i="0">
                <a:solidFill>
                  <a:srgbClr val="667085"/>
                </a:solidFill>
                <a:latin typeface="Inter"/>
                <a:ea typeface="Inter"/>
                <a:cs typeface="Inter"/>
              </a:defRPr>
            </a:pPr>
            <a:r>
              <a:rPr sz="1275" b="0" i="0">
                <a:solidFill>
                  <a:srgbClr val="667085"/>
                </a:solidFill>
                <a:latin typeface="Inter"/>
                <a:ea typeface="Inter"/>
                <a:cs typeface="Inter"/>
              </a:rPr>
              <a:t>Suggested flow: homepage → menu → reservation → Click &amp; Collect → checkout → confirmation</a:t>
            </a:r>
          </a:p>
        </p:txBody>
      </p:sp>
      <p:sp>
        <p:nvSpPr>
          <p:cNvPr id="11" name="footer-rule-7">
            <a:extLst>
              <a:ext uri="{FF2B5EF4-FFF2-40B4-BE49-F238E27FC236}">
                <a16:creationId xmlns:a16="http://schemas.microsoft.com/office/drawing/2014/main" id="{C5891CC7-9CFB-4BE9-8801-056316E9F16E}"/>
              </a:ext>
            </a:extLst>
          </p:cNvPr>
          <p:cNvSpPr>
            <a:spLocks noGrp="1"/>
          </p:cNvSpPr>
          <p:nvPr/>
        </p:nvSpPr>
        <p:spPr>
          <a:xfrm>
            <a:off x="647700" y="6419850"/>
            <a:ext cx="10896600" cy="19050"/>
          </a:xfrm>
          <a:prstGeom prst="rect">
            <a:avLst/>
          </a:prstGeom>
          <a:solidFill>
            <a:srgbClr val="A97417">
              <a:alpha val="35000"/>
            </a:srgbClr>
          </a:solidFill>
          <a:ln w="0">
            <a:noFill/>
            <a:prstDash val="solid"/>
          </a:ln>
        </p:spPr>
        <p:txBody>
          <a:bodyPr/>
          <a:lstStyle/>
          <a:p>
            <a:endParaRPr lang="en-ZA"/>
          </a:p>
        </p:txBody>
      </p:sp>
      <p:sp>
        <p:nvSpPr>
          <p:cNvPr id="12" name="footer-label-7">
            <a:extLst>
              <a:ext uri="{FF2B5EF4-FFF2-40B4-BE49-F238E27FC236}">
                <a16:creationId xmlns:a16="http://schemas.microsoft.com/office/drawing/2014/main" id="{14161B98-29F6-4706-B6E1-7B9FC8FEA902}"/>
              </a:ext>
            </a:extLst>
          </p:cNvPr>
          <p:cNvSpPr>
            <a:spLocks noGrp="1"/>
          </p:cNvSpPr>
          <p:nvPr/>
        </p:nvSpPr>
        <p:spPr>
          <a:xfrm>
            <a:off x="647700" y="6477000"/>
            <a:ext cx="4191000" cy="190500"/>
          </a:xfrm>
          <a:prstGeom prst="rect">
            <a:avLst/>
          </a:prstGeom>
          <a:noFill/>
          <a:ln w="0">
            <a:noFill/>
            <a:prstDash val="solid"/>
          </a:ln>
        </p:spPr>
        <p:txBody>
          <a:bodyPr anchor="ctr"/>
          <a:lstStyle/>
          <a:p>
            <a:pPr algn="l">
              <a:lnSpc>
                <a:spcPct val="105000"/>
              </a:lnSpc>
              <a:buNone/>
              <a:defRPr sz="750" b="1" i="0">
                <a:solidFill>
                  <a:srgbClr val="667085"/>
                </a:solidFill>
                <a:latin typeface="Inter"/>
                <a:ea typeface="Inter"/>
                <a:cs typeface="Inter"/>
              </a:defRPr>
            </a:pPr>
            <a:r>
              <a:rPr sz="750" b="1" i="0">
                <a:solidFill>
                  <a:srgbClr val="667085"/>
                </a:solidFill>
                <a:latin typeface="Inter"/>
                <a:ea typeface="Inter"/>
                <a:cs typeface="Inter"/>
              </a:rPr>
              <a:t>CAFÉ FAUSSE RESTAURANT PLATFORM</a:t>
            </a:r>
          </a:p>
        </p:txBody>
      </p:sp>
      <p:sp>
        <p:nvSpPr>
          <p:cNvPr id="13" name="footer-number-7">
            <a:extLst>
              <a:ext uri="{FF2B5EF4-FFF2-40B4-BE49-F238E27FC236}">
                <a16:creationId xmlns:a16="http://schemas.microsoft.com/office/drawing/2014/main" id="{54526D82-6F6B-490C-8C9A-1F9FAF6C81B3}"/>
              </a:ext>
            </a:extLst>
          </p:cNvPr>
          <p:cNvSpPr>
            <a:spLocks noGrp="1"/>
          </p:cNvSpPr>
          <p:nvPr/>
        </p:nvSpPr>
        <p:spPr>
          <a:xfrm>
            <a:off x="11049000" y="6477000"/>
            <a:ext cx="476250" cy="190500"/>
          </a:xfrm>
          <a:prstGeom prst="rect">
            <a:avLst/>
          </a:prstGeom>
          <a:noFill/>
          <a:ln w="0">
            <a:noFill/>
            <a:prstDash val="solid"/>
          </a:ln>
        </p:spPr>
        <p:txBody>
          <a:bodyPr anchor="ctr"/>
          <a:lstStyle/>
          <a:p>
            <a:pPr algn="r">
              <a:lnSpc>
                <a:spcPct val="105000"/>
              </a:lnSpc>
              <a:buNone/>
              <a:defRPr sz="750" b="1" i="0">
                <a:solidFill>
                  <a:srgbClr val="A97417"/>
                </a:solidFill>
                <a:latin typeface="Inter"/>
                <a:ea typeface="Inter"/>
                <a:cs typeface="Inter"/>
              </a:defRPr>
            </a:pPr>
            <a:r>
              <a:rPr sz="750" b="1" i="0">
                <a:solidFill>
                  <a:srgbClr val="A97417"/>
                </a:solidFill>
                <a:latin typeface="Inter"/>
                <a:ea typeface="Inter"/>
                <a:cs typeface="Inter"/>
              </a:rPr>
              <a:t>07</a:t>
            </a:r>
          </a:p>
        </p:txBody>
      </p:sp>
    </p:spTree>
    <p:extLst>
      <p:ext uri="{BB962C8B-B14F-4D97-AF65-F5344CB8AC3E}">
        <p14:creationId xmlns:p14="http://schemas.microsoft.com/office/powerpoint/2010/main" val="171056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30" name="brand">
            <a:extLst>
              <a:ext uri="{FF2B5EF4-FFF2-40B4-BE49-F238E27FC236}">
                <a16:creationId xmlns:a16="http://schemas.microsoft.com/office/drawing/2014/main" id="{71720D57-98FB-4F21-A697-76CA977CE757}"/>
              </a:ext>
            </a:extLst>
          </p:cNvPr>
          <p:cNvSpPr>
            <a:spLocks noGrp="1"/>
          </p:cNvSpPr>
          <p:nvPr/>
        </p:nvSpPr>
        <p:spPr>
          <a:xfrm>
            <a:off x="647700" y="323850"/>
            <a:ext cx="2952750" cy="361950"/>
          </a:xfrm>
          <a:prstGeom prst="rect">
            <a:avLst/>
          </a:prstGeom>
          <a:noFill/>
          <a:ln w="0">
            <a:noFill/>
            <a:prstDash val="solid"/>
          </a:ln>
        </p:spPr>
        <p:txBody>
          <a:bodyPr anchor="ctr"/>
          <a:lstStyle/>
          <a:p>
            <a:pPr algn="l">
              <a:lnSpc>
                <a:spcPct val="105000"/>
              </a:lnSpc>
              <a:buNone/>
              <a:defRPr sz="1875" b="1" i="0">
                <a:solidFill>
                  <a:srgbClr val="FFFFFF"/>
                </a:solidFill>
                <a:latin typeface="Playfair Display"/>
                <a:ea typeface="Playfair Display"/>
                <a:cs typeface="Playfair Display"/>
              </a:defRPr>
            </a:pPr>
            <a:r>
              <a:rPr sz="1875" b="1" i="0">
                <a:solidFill>
                  <a:srgbClr val="FFFFFF"/>
                </a:solidFill>
                <a:latin typeface="Playfair Display"/>
                <a:ea typeface="Playfair Display"/>
                <a:cs typeface="Playfair Display"/>
              </a:rPr>
              <a:t>CAFÉ FAUSSE</a:t>
            </a:r>
          </a:p>
        </p:txBody>
      </p:sp>
      <p:sp>
        <p:nvSpPr>
          <p:cNvPr id="2" name="brand-tagline">
            <a:extLst>
              <a:ext uri="{FF2B5EF4-FFF2-40B4-BE49-F238E27FC236}">
                <a16:creationId xmlns:a16="http://schemas.microsoft.com/office/drawing/2014/main" id="{A1998581-FC53-4452-A929-AB5514BDDA1B}"/>
              </a:ext>
            </a:extLst>
          </p:cNvPr>
          <p:cNvSpPr>
            <a:spLocks noGrp="1"/>
          </p:cNvSpPr>
          <p:nvPr/>
        </p:nvSpPr>
        <p:spPr>
          <a:xfrm>
            <a:off x="647700" y="666750"/>
            <a:ext cx="3905250" cy="209550"/>
          </a:xfrm>
          <a:prstGeom prst="rect">
            <a:avLst/>
          </a:prstGeom>
          <a:noFill/>
          <a:ln w="0">
            <a:noFill/>
            <a:prstDash val="solid"/>
          </a:ln>
        </p:spPr>
        <p:txBody>
          <a:bodyPr anchor="ctr"/>
          <a:lstStyle/>
          <a:p>
            <a:pPr algn="l">
              <a:lnSpc>
                <a:spcPct val="105000"/>
              </a:lnSpc>
              <a:buNone/>
              <a:defRPr sz="825" b="1" i="0">
                <a:solidFill>
                  <a:srgbClr val="D4B77D"/>
                </a:solidFill>
                <a:latin typeface="Inter"/>
                <a:ea typeface="Inter"/>
                <a:cs typeface="Inter"/>
              </a:defRPr>
            </a:pPr>
            <a:r>
              <a:rPr sz="825" b="1" i="0">
                <a:solidFill>
                  <a:srgbClr val="D4B77D"/>
                </a:solidFill>
                <a:latin typeface="Inter"/>
                <a:ea typeface="Inter"/>
                <a:cs typeface="Inter"/>
              </a:rPr>
              <a:t>FINE DINING &amp; SEASONAL ELEGANCE</a:t>
            </a:r>
          </a:p>
        </p:txBody>
      </p:sp>
      <p:sp>
        <p:nvSpPr>
          <p:cNvPr id="3" name="references-title">
            <a:extLst>
              <a:ext uri="{FF2B5EF4-FFF2-40B4-BE49-F238E27FC236}">
                <a16:creationId xmlns:a16="http://schemas.microsoft.com/office/drawing/2014/main" id="{CD1DFD1E-D99E-4A33-BACC-EAE0058A15A4}"/>
              </a:ext>
            </a:extLst>
          </p:cNvPr>
          <p:cNvSpPr>
            <a:spLocks noGrp="1"/>
          </p:cNvSpPr>
          <p:nvPr/>
        </p:nvSpPr>
        <p:spPr>
          <a:xfrm>
            <a:off x="647700" y="1143000"/>
            <a:ext cx="5143500" cy="666750"/>
          </a:xfrm>
          <a:prstGeom prst="rect">
            <a:avLst/>
          </a:prstGeom>
          <a:noFill/>
          <a:ln w="0">
            <a:noFill/>
            <a:prstDash val="solid"/>
          </a:ln>
        </p:spPr>
        <p:txBody>
          <a:bodyPr anchor="ctr"/>
          <a:lstStyle/>
          <a:p>
            <a:pPr algn="l">
              <a:lnSpc>
                <a:spcPct val="105000"/>
              </a:lnSpc>
              <a:buNone/>
              <a:defRPr sz="3900" b="1" i="0">
                <a:solidFill>
                  <a:srgbClr val="FFFFFF"/>
                </a:solidFill>
                <a:latin typeface="Playfair Display"/>
                <a:ea typeface="Playfair Display"/>
                <a:cs typeface="Playfair Display"/>
              </a:defRPr>
            </a:pPr>
            <a:r>
              <a:rPr sz="3900" b="1" i="0">
                <a:solidFill>
                  <a:srgbClr val="FFFFFF"/>
                </a:solidFill>
                <a:latin typeface="Playfair Display"/>
                <a:ea typeface="Playfair Display"/>
                <a:cs typeface="Playfair Display"/>
              </a:rPr>
              <a:t>References</a:t>
            </a:r>
          </a:p>
        </p:txBody>
      </p:sp>
      <p:sp>
        <p:nvSpPr>
          <p:cNvPr id="4" name="references-rule">
            <a:extLst>
              <a:ext uri="{FF2B5EF4-FFF2-40B4-BE49-F238E27FC236}">
                <a16:creationId xmlns:a16="http://schemas.microsoft.com/office/drawing/2014/main" id="{A2785251-8165-4136-A8D4-305369EC1EC1}"/>
              </a:ext>
            </a:extLst>
          </p:cNvPr>
          <p:cNvSpPr>
            <a:spLocks noGrp="1"/>
          </p:cNvSpPr>
          <p:nvPr/>
        </p:nvSpPr>
        <p:spPr>
          <a:xfrm>
            <a:off x="647700" y="1933575"/>
            <a:ext cx="10896600" cy="28575"/>
          </a:xfrm>
          <a:prstGeom prst="rect">
            <a:avLst/>
          </a:prstGeom>
          <a:solidFill>
            <a:srgbClr val="A97417"/>
          </a:solidFill>
          <a:ln w="0">
            <a:noFill/>
            <a:prstDash val="solid"/>
          </a:ln>
        </p:spPr>
        <p:txBody>
          <a:bodyPr/>
          <a:lstStyle/>
          <a:p>
            <a:endParaRPr lang="en-ZA"/>
          </a:p>
        </p:txBody>
      </p:sp>
      <p:sp>
        <p:nvSpPr>
          <p:cNvPr id="5" name="reference-number-1">
            <a:extLst>
              <a:ext uri="{FF2B5EF4-FFF2-40B4-BE49-F238E27FC236}">
                <a16:creationId xmlns:a16="http://schemas.microsoft.com/office/drawing/2014/main" id="{1923D019-BB80-4402-82B4-AC8C72C44780}"/>
              </a:ext>
            </a:extLst>
          </p:cNvPr>
          <p:cNvSpPr>
            <a:spLocks noGrp="1"/>
          </p:cNvSpPr>
          <p:nvPr/>
        </p:nvSpPr>
        <p:spPr>
          <a:xfrm>
            <a:off x="647700" y="233362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1</a:t>
            </a:r>
          </a:p>
        </p:txBody>
      </p:sp>
      <p:sp>
        <p:nvSpPr>
          <p:cNvPr id="6" name="reference-1">
            <a:extLst>
              <a:ext uri="{FF2B5EF4-FFF2-40B4-BE49-F238E27FC236}">
                <a16:creationId xmlns:a16="http://schemas.microsoft.com/office/drawing/2014/main" id="{32237649-62F1-4FC2-81F5-2130B8FAF384}"/>
              </a:ext>
            </a:extLst>
          </p:cNvPr>
          <p:cNvSpPr>
            <a:spLocks noGrp="1"/>
          </p:cNvSpPr>
          <p:nvPr/>
        </p:nvSpPr>
        <p:spPr>
          <a:xfrm>
            <a:off x="1104900" y="233362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3"/>
              </a:rPr>
              <a:t>Quantic (2026). Café Fausse Software Requirements Specification.</a:t>
            </a:r>
          </a:p>
        </p:txBody>
      </p:sp>
      <p:sp>
        <p:nvSpPr>
          <p:cNvPr id="7" name="reference-number-2">
            <a:extLst>
              <a:ext uri="{FF2B5EF4-FFF2-40B4-BE49-F238E27FC236}">
                <a16:creationId xmlns:a16="http://schemas.microsoft.com/office/drawing/2014/main" id="{22A7F344-4CC8-46C1-98FA-D0F5D872BF68}"/>
              </a:ext>
            </a:extLst>
          </p:cNvPr>
          <p:cNvSpPr>
            <a:spLocks noGrp="1"/>
          </p:cNvSpPr>
          <p:nvPr/>
        </p:nvSpPr>
        <p:spPr>
          <a:xfrm>
            <a:off x="647700" y="3238500"/>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2</a:t>
            </a:r>
          </a:p>
        </p:txBody>
      </p:sp>
      <p:sp>
        <p:nvSpPr>
          <p:cNvPr id="8" name="reference-2">
            <a:extLst>
              <a:ext uri="{FF2B5EF4-FFF2-40B4-BE49-F238E27FC236}">
                <a16:creationId xmlns:a16="http://schemas.microsoft.com/office/drawing/2014/main" id="{73A2F983-93CF-4173-A297-28314F7BAD84}"/>
              </a:ext>
            </a:extLst>
          </p:cNvPr>
          <p:cNvSpPr>
            <a:spLocks noGrp="1"/>
          </p:cNvSpPr>
          <p:nvPr/>
        </p:nvSpPr>
        <p:spPr>
          <a:xfrm>
            <a:off x="1104900" y="3238500"/>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4"/>
              </a:rPr>
              <a:t>Meta (2026). React documentation.</a:t>
            </a:r>
          </a:p>
        </p:txBody>
      </p:sp>
      <p:sp>
        <p:nvSpPr>
          <p:cNvPr id="9" name="reference-number-3">
            <a:extLst>
              <a:ext uri="{FF2B5EF4-FFF2-40B4-BE49-F238E27FC236}">
                <a16:creationId xmlns:a16="http://schemas.microsoft.com/office/drawing/2014/main" id="{7D0D4B0D-5842-4168-97BC-D029CF34D4BF}"/>
              </a:ext>
            </a:extLst>
          </p:cNvPr>
          <p:cNvSpPr>
            <a:spLocks noGrp="1"/>
          </p:cNvSpPr>
          <p:nvPr/>
        </p:nvSpPr>
        <p:spPr>
          <a:xfrm>
            <a:off x="647700" y="414337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3</a:t>
            </a:r>
          </a:p>
        </p:txBody>
      </p:sp>
      <p:sp>
        <p:nvSpPr>
          <p:cNvPr id="10" name="reference-3">
            <a:extLst>
              <a:ext uri="{FF2B5EF4-FFF2-40B4-BE49-F238E27FC236}">
                <a16:creationId xmlns:a16="http://schemas.microsoft.com/office/drawing/2014/main" id="{9530EA26-6C0A-4521-BFEB-6536C0DA68F9}"/>
              </a:ext>
            </a:extLst>
          </p:cNvPr>
          <p:cNvSpPr>
            <a:spLocks noGrp="1"/>
          </p:cNvSpPr>
          <p:nvPr/>
        </p:nvSpPr>
        <p:spPr>
          <a:xfrm>
            <a:off x="1104900" y="414337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5"/>
              </a:rPr>
              <a:t>Pallets Projects (2026). Flask documentation.</a:t>
            </a:r>
          </a:p>
        </p:txBody>
      </p:sp>
      <p:sp>
        <p:nvSpPr>
          <p:cNvPr id="11" name="reference-number-4">
            <a:extLst>
              <a:ext uri="{FF2B5EF4-FFF2-40B4-BE49-F238E27FC236}">
                <a16:creationId xmlns:a16="http://schemas.microsoft.com/office/drawing/2014/main" id="{798118AE-BA57-4C04-B03D-874B7DB72910}"/>
              </a:ext>
            </a:extLst>
          </p:cNvPr>
          <p:cNvSpPr>
            <a:spLocks noGrp="1"/>
          </p:cNvSpPr>
          <p:nvPr/>
        </p:nvSpPr>
        <p:spPr>
          <a:xfrm>
            <a:off x="647700" y="5048250"/>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4</a:t>
            </a:r>
          </a:p>
        </p:txBody>
      </p:sp>
      <p:sp>
        <p:nvSpPr>
          <p:cNvPr id="12" name="reference-4">
            <a:extLst>
              <a:ext uri="{FF2B5EF4-FFF2-40B4-BE49-F238E27FC236}">
                <a16:creationId xmlns:a16="http://schemas.microsoft.com/office/drawing/2014/main" id="{1195A898-853E-4512-A1EC-21C70DA77C22}"/>
              </a:ext>
            </a:extLst>
          </p:cNvPr>
          <p:cNvSpPr>
            <a:spLocks noGrp="1"/>
          </p:cNvSpPr>
          <p:nvPr/>
        </p:nvSpPr>
        <p:spPr>
          <a:xfrm>
            <a:off x="1104900" y="5048250"/>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6"/>
              </a:rPr>
              <a:t>PostgreSQL Global Development Group (2026). PostgreSQL documentation.</a:t>
            </a:r>
          </a:p>
        </p:txBody>
      </p:sp>
      <p:sp>
        <p:nvSpPr>
          <p:cNvPr id="13" name="reference-number-5">
            <a:extLst>
              <a:ext uri="{FF2B5EF4-FFF2-40B4-BE49-F238E27FC236}">
                <a16:creationId xmlns:a16="http://schemas.microsoft.com/office/drawing/2014/main" id="{0E81C876-6A2A-4652-B7CD-8A332FEF95D5}"/>
              </a:ext>
            </a:extLst>
          </p:cNvPr>
          <p:cNvSpPr>
            <a:spLocks noGrp="1"/>
          </p:cNvSpPr>
          <p:nvPr/>
        </p:nvSpPr>
        <p:spPr>
          <a:xfrm>
            <a:off x="4286250" y="233362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5</a:t>
            </a:r>
          </a:p>
        </p:txBody>
      </p:sp>
      <p:sp>
        <p:nvSpPr>
          <p:cNvPr id="14" name="reference-5">
            <a:extLst>
              <a:ext uri="{FF2B5EF4-FFF2-40B4-BE49-F238E27FC236}">
                <a16:creationId xmlns:a16="http://schemas.microsoft.com/office/drawing/2014/main" id="{C1372B1F-BF49-417D-85B5-F93551DE0107}"/>
              </a:ext>
            </a:extLst>
          </p:cNvPr>
          <p:cNvSpPr>
            <a:spLocks noGrp="1"/>
          </p:cNvSpPr>
          <p:nvPr/>
        </p:nvSpPr>
        <p:spPr>
          <a:xfrm>
            <a:off x="4743450" y="233362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7"/>
              </a:rPr>
              <a:t>Vite (2026). Next Generation Frontend Tooling.</a:t>
            </a:r>
          </a:p>
        </p:txBody>
      </p:sp>
      <p:sp>
        <p:nvSpPr>
          <p:cNvPr id="15" name="reference-number-6">
            <a:extLst>
              <a:ext uri="{FF2B5EF4-FFF2-40B4-BE49-F238E27FC236}">
                <a16:creationId xmlns:a16="http://schemas.microsoft.com/office/drawing/2014/main" id="{4C602369-93C2-4F22-BFE6-1DFA6109F470}"/>
              </a:ext>
            </a:extLst>
          </p:cNvPr>
          <p:cNvSpPr>
            <a:spLocks noGrp="1"/>
          </p:cNvSpPr>
          <p:nvPr/>
        </p:nvSpPr>
        <p:spPr>
          <a:xfrm>
            <a:off x="4286250" y="3238500"/>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6</a:t>
            </a:r>
          </a:p>
        </p:txBody>
      </p:sp>
      <p:sp>
        <p:nvSpPr>
          <p:cNvPr id="16" name="reference-6">
            <a:extLst>
              <a:ext uri="{FF2B5EF4-FFF2-40B4-BE49-F238E27FC236}">
                <a16:creationId xmlns:a16="http://schemas.microsoft.com/office/drawing/2014/main" id="{7A85AB22-7D80-4CB0-85E5-CD81631097FC}"/>
              </a:ext>
            </a:extLst>
          </p:cNvPr>
          <p:cNvSpPr>
            <a:spLocks noGrp="1"/>
          </p:cNvSpPr>
          <p:nvPr/>
        </p:nvSpPr>
        <p:spPr>
          <a:xfrm>
            <a:off x="4743450" y="3238500"/>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8"/>
              </a:rPr>
              <a:t>Microsoft (2026). Visual Studio Code documentation.</a:t>
            </a:r>
          </a:p>
        </p:txBody>
      </p:sp>
      <p:sp>
        <p:nvSpPr>
          <p:cNvPr id="17" name="reference-number-7">
            <a:extLst>
              <a:ext uri="{FF2B5EF4-FFF2-40B4-BE49-F238E27FC236}">
                <a16:creationId xmlns:a16="http://schemas.microsoft.com/office/drawing/2014/main" id="{1B555875-375B-4357-AB71-14940A1FA4BE}"/>
              </a:ext>
            </a:extLst>
          </p:cNvPr>
          <p:cNvSpPr>
            <a:spLocks noGrp="1"/>
          </p:cNvSpPr>
          <p:nvPr/>
        </p:nvSpPr>
        <p:spPr>
          <a:xfrm>
            <a:off x="4286250" y="414337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7</a:t>
            </a:r>
          </a:p>
        </p:txBody>
      </p:sp>
      <p:sp>
        <p:nvSpPr>
          <p:cNvPr id="18" name="reference-7">
            <a:extLst>
              <a:ext uri="{FF2B5EF4-FFF2-40B4-BE49-F238E27FC236}">
                <a16:creationId xmlns:a16="http://schemas.microsoft.com/office/drawing/2014/main" id="{BBCC89C8-312D-4052-B80F-D061E52933F0}"/>
              </a:ext>
            </a:extLst>
          </p:cNvPr>
          <p:cNvSpPr>
            <a:spLocks noGrp="1"/>
          </p:cNvSpPr>
          <p:nvPr/>
        </p:nvSpPr>
        <p:spPr>
          <a:xfrm>
            <a:off x="4743450" y="414337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9"/>
              </a:rPr>
              <a:t>GitHub (2026a). GitHub platform.</a:t>
            </a:r>
          </a:p>
        </p:txBody>
      </p:sp>
      <p:sp>
        <p:nvSpPr>
          <p:cNvPr id="19" name="reference-number-8">
            <a:extLst>
              <a:ext uri="{FF2B5EF4-FFF2-40B4-BE49-F238E27FC236}">
                <a16:creationId xmlns:a16="http://schemas.microsoft.com/office/drawing/2014/main" id="{4ABE9305-59AA-4097-BE51-6DBDC43B9C8F}"/>
              </a:ext>
            </a:extLst>
          </p:cNvPr>
          <p:cNvSpPr>
            <a:spLocks noGrp="1"/>
          </p:cNvSpPr>
          <p:nvPr/>
        </p:nvSpPr>
        <p:spPr>
          <a:xfrm>
            <a:off x="4286250" y="5048250"/>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8</a:t>
            </a:r>
          </a:p>
        </p:txBody>
      </p:sp>
      <p:sp>
        <p:nvSpPr>
          <p:cNvPr id="20" name="reference-8">
            <a:extLst>
              <a:ext uri="{FF2B5EF4-FFF2-40B4-BE49-F238E27FC236}">
                <a16:creationId xmlns:a16="http://schemas.microsoft.com/office/drawing/2014/main" id="{4ED03CF2-605F-456A-B4A6-E099A21C9025}"/>
              </a:ext>
            </a:extLst>
          </p:cNvPr>
          <p:cNvSpPr>
            <a:spLocks noGrp="1"/>
          </p:cNvSpPr>
          <p:nvPr/>
        </p:nvSpPr>
        <p:spPr>
          <a:xfrm>
            <a:off x="4743450" y="5048250"/>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10"/>
              </a:rPr>
              <a:t>GitHub (2026b). GitHub Copilot documentation.</a:t>
            </a:r>
          </a:p>
        </p:txBody>
      </p:sp>
      <p:sp>
        <p:nvSpPr>
          <p:cNvPr id="21" name="reference-number-9">
            <a:extLst>
              <a:ext uri="{FF2B5EF4-FFF2-40B4-BE49-F238E27FC236}">
                <a16:creationId xmlns:a16="http://schemas.microsoft.com/office/drawing/2014/main" id="{70B036BC-F925-42FE-9C61-40856BAAF70A}"/>
              </a:ext>
            </a:extLst>
          </p:cNvPr>
          <p:cNvSpPr>
            <a:spLocks noGrp="1"/>
          </p:cNvSpPr>
          <p:nvPr/>
        </p:nvSpPr>
        <p:spPr>
          <a:xfrm>
            <a:off x="7924800" y="233362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9</a:t>
            </a:r>
          </a:p>
        </p:txBody>
      </p:sp>
      <p:sp>
        <p:nvSpPr>
          <p:cNvPr id="22" name="reference-9">
            <a:extLst>
              <a:ext uri="{FF2B5EF4-FFF2-40B4-BE49-F238E27FC236}">
                <a16:creationId xmlns:a16="http://schemas.microsoft.com/office/drawing/2014/main" id="{DE0F1B4E-D437-4E02-8713-A359AAF6099E}"/>
              </a:ext>
            </a:extLst>
          </p:cNvPr>
          <p:cNvSpPr>
            <a:spLocks noGrp="1"/>
          </p:cNvSpPr>
          <p:nvPr/>
        </p:nvSpPr>
        <p:spPr>
          <a:xfrm>
            <a:off x="8382000" y="233362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11"/>
              </a:rPr>
              <a:t>OpenAI (2026a). ChatGPT project-development responses.</a:t>
            </a:r>
          </a:p>
        </p:txBody>
      </p:sp>
      <p:sp>
        <p:nvSpPr>
          <p:cNvPr id="23" name="reference-number-10">
            <a:extLst>
              <a:ext uri="{FF2B5EF4-FFF2-40B4-BE49-F238E27FC236}">
                <a16:creationId xmlns:a16="http://schemas.microsoft.com/office/drawing/2014/main" id="{FCDB5EBB-0609-40FF-BBC9-11EDFE71897A}"/>
              </a:ext>
            </a:extLst>
          </p:cNvPr>
          <p:cNvSpPr>
            <a:spLocks noGrp="1"/>
          </p:cNvSpPr>
          <p:nvPr/>
        </p:nvSpPr>
        <p:spPr>
          <a:xfrm>
            <a:off x="7924800" y="3238500"/>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10</a:t>
            </a:r>
          </a:p>
        </p:txBody>
      </p:sp>
      <p:sp>
        <p:nvSpPr>
          <p:cNvPr id="24" name="reference-10">
            <a:extLst>
              <a:ext uri="{FF2B5EF4-FFF2-40B4-BE49-F238E27FC236}">
                <a16:creationId xmlns:a16="http://schemas.microsoft.com/office/drawing/2014/main" id="{25CB19FE-3759-4C44-BBB1-83A588DFDDCA}"/>
              </a:ext>
            </a:extLst>
          </p:cNvPr>
          <p:cNvSpPr>
            <a:spLocks noGrp="1"/>
          </p:cNvSpPr>
          <p:nvPr/>
        </p:nvSpPr>
        <p:spPr>
          <a:xfrm>
            <a:off x="8382000" y="3238500"/>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12"/>
              </a:rPr>
              <a:t>OpenAI (2026b). AI image-generation responses.</a:t>
            </a:r>
          </a:p>
        </p:txBody>
      </p:sp>
      <p:sp>
        <p:nvSpPr>
          <p:cNvPr id="25" name="reference-number-11">
            <a:extLst>
              <a:ext uri="{FF2B5EF4-FFF2-40B4-BE49-F238E27FC236}">
                <a16:creationId xmlns:a16="http://schemas.microsoft.com/office/drawing/2014/main" id="{158A5E22-FEA9-486A-8295-5D5D11FA08DD}"/>
              </a:ext>
            </a:extLst>
          </p:cNvPr>
          <p:cNvSpPr>
            <a:spLocks noGrp="1"/>
          </p:cNvSpPr>
          <p:nvPr/>
        </p:nvSpPr>
        <p:spPr>
          <a:xfrm>
            <a:off x="7924800" y="4143375"/>
            <a:ext cx="419100" cy="285750"/>
          </a:xfrm>
          <a:prstGeom prst="rect">
            <a:avLst/>
          </a:prstGeom>
          <a:noFill/>
          <a:ln w="0">
            <a:noFill/>
            <a:prstDash val="solid"/>
          </a:ln>
        </p:spPr>
        <p:txBody>
          <a:bodyPr anchor="ctr"/>
          <a:lstStyle/>
          <a:p>
            <a:pPr algn="l">
              <a:lnSpc>
                <a:spcPct val="105000"/>
              </a:lnSpc>
              <a:buNone/>
              <a:defRPr sz="1200" b="1" i="0">
                <a:solidFill>
                  <a:srgbClr val="D4B77D"/>
                </a:solidFill>
                <a:latin typeface="Inter"/>
                <a:ea typeface="Inter"/>
                <a:cs typeface="Inter"/>
              </a:defRPr>
            </a:pPr>
            <a:r>
              <a:rPr sz="1200" b="1" i="0">
                <a:solidFill>
                  <a:srgbClr val="D4B77D"/>
                </a:solidFill>
                <a:latin typeface="Inter"/>
                <a:ea typeface="Inter"/>
                <a:cs typeface="Inter"/>
              </a:rPr>
              <a:t>11</a:t>
            </a:r>
          </a:p>
        </p:txBody>
      </p:sp>
      <p:sp>
        <p:nvSpPr>
          <p:cNvPr id="26" name="reference-11">
            <a:extLst>
              <a:ext uri="{FF2B5EF4-FFF2-40B4-BE49-F238E27FC236}">
                <a16:creationId xmlns:a16="http://schemas.microsoft.com/office/drawing/2014/main" id="{44D8911B-518F-412A-8ECA-1A74BA5BDDAC}"/>
              </a:ext>
            </a:extLst>
          </p:cNvPr>
          <p:cNvSpPr>
            <a:spLocks noGrp="1"/>
          </p:cNvSpPr>
          <p:nvPr/>
        </p:nvSpPr>
        <p:spPr>
          <a:xfrm>
            <a:off x="8382000" y="4143375"/>
            <a:ext cx="3000375" cy="714375"/>
          </a:xfrm>
          <a:prstGeom prst="rect">
            <a:avLst/>
          </a:prstGeom>
          <a:noFill/>
          <a:ln w="0">
            <a:noFill/>
            <a:prstDash val="solid"/>
          </a:ln>
        </p:spPr>
        <p:txBody>
          <a:bodyPr anchor="t"/>
          <a:lstStyle/>
          <a:p>
            <a:pPr>
              <a:lnSpc>
                <a:spcPct val="105000"/>
              </a:lnSpc>
              <a:buNone/>
              <a:defRPr sz="1575">
                <a:solidFill>
                  <a:srgbClr val="FFFFFF"/>
                </a:solidFill>
                <a:latin typeface="Inter"/>
                <a:ea typeface="Inter"/>
                <a:cs typeface="Inter"/>
              </a:defRPr>
            </a:pPr>
            <a:r>
              <a:rPr sz="1575" u="sng">
                <a:solidFill>
                  <a:srgbClr val="FFFFFF"/>
                </a:solidFill>
                <a:latin typeface="Inter"/>
                <a:ea typeface="Inter"/>
                <a:cs typeface="Inter"/>
                <a:hlinkClick r:id="rId11"/>
              </a:rPr>
              <a:t>OpenAI (2026c). ChatGPT report-alignment and revision responses.</a:t>
            </a:r>
          </a:p>
        </p:txBody>
      </p:sp>
      <p:sp>
        <p:nvSpPr>
          <p:cNvPr id="27" name="footer-rule-8">
            <a:extLst>
              <a:ext uri="{FF2B5EF4-FFF2-40B4-BE49-F238E27FC236}">
                <a16:creationId xmlns:a16="http://schemas.microsoft.com/office/drawing/2014/main" id="{D2B59C14-A747-4084-86D2-B0120166FF5F}"/>
              </a:ext>
            </a:extLst>
          </p:cNvPr>
          <p:cNvSpPr>
            <a:spLocks noGrp="1"/>
          </p:cNvSpPr>
          <p:nvPr/>
        </p:nvSpPr>
        <p:spPr>
          <a:xfrm>
            <a:off x="647700" y="6419850"/>
            <a:ext cx="10896600" cy="19050"/>
          </a:xfrm>
          <a:prstGeom prst="rect">
            <a:avLst/>
          </a:prstGeom>
          <a:solidFill>
            <a:srgbClr val="FFFFFF">
              <a:alpha val="18000"/>
            </a:srgbClr>
          </a:solidFill>
          <a:ln w="0">
            <a:noFill/>
            <a:prstDash val="solid"/>
          </a:ln>
        </p:spPr>
        <p:txBody>
          <a:bodyPr/>
          <a:lstStyle/>
          <a:p>
            <a:endParaRPr lang="en-ZA"/>
          </a:p>
        </p:txBody>
      </p:sp>
      <p:sp>
        <p:nvSpPr>
          <p:cNvPr id="28" name="footer-label-8">
            <a:extLst>
              <a:ext uri="{FF2B5EF4-FFF2-40B4-BE49-F238E27FC236}">
                <a16:creationId xmlns:a16="http://schemas.microsoft.com/office/drawing/2014/main" id="{B7DA0EA0-DFDC-4587-AFDD-9B976F9E9351}"/>
              </a:ext>
            </a:extLst>
          </p:cNvPr>
          <p:cNvSpPr>
            <a:spLocks noGrp="1"/>
          </p:cNvSpPr>
          <p:nvPr/>
        </p:nvSpPr>
        <p:spPr>
          <a:xfrm>
            <a:off x="647700" y="6477000"/>
            <a:ext cx="4191000" cy="190500"/>
          </a:xfrm>
          <a:prstGeom prst="rect">
            <a:avLst/>
          </a:prstGeom>
          <a:noFill/>
          <a:ln w="0">
            <a:noFill/>
            <a:prstDash val="solid"/>
          </a:ln>
        </p:spPr>
        <p:txBody>
          <a:bodyPr anchor="ctr"/>
          <a:lstStyle/>
          <a:p>
            <a:pPr algn="l">
              <a:lnSpc>
                <a:spcPct val="105000"/>
              </a:lnSpc>
              <a:buNone/>
              <a:defRPr sz="750" b="1" i="0">
                <a:solidFill>
                  <a:srgbClr val="FFFFFF">
                    <a:alpha val="70000"/>
                  </a:srgbClr>
                </a:solidFill>
                <a:latin typeface="Inter"/>
                <a:ea typeface="Inter"/>
                <a:cs typeface="Inter"/>
              </a:defRPr>
            </a:pPr>
            <a:r>
              <a:rPr sz="750" b="1" i="0">
                <a:solidFill>
                  <a:srgbClr val="FFFFFF">
                    <a:alpha val="70000"/>
                  </a:srgbClr>
                </a:solidFill>
                <a:latin typeface="Inter"/>
                <a:ea typeface="Inter"/>
                <a:cs typeface="Inter"/>
              </a:rPr>
              <a:t>CAFÉ FAUSSE RESTAURANT PLATFORM</a:t>
            </a:r>
          </a:p>
        </p:txBody>
      </p:sp>
      <p:sp>
        <p:nvSpPr>
          <p:cNvPr id="29" name="footer-number-8">
            <a:extLst>
              <a:ext uri="{FF2B5EF4-FFF2-40B4-BE49-F238E27FC236}">
                <a16:creationId xmlns:a16="http://schemas.microsoft.com/office/drawing/2014/main" id="{D01952FF-5DB5-4FBA-B711-FD5BACA3564C}"/>
              </a:ext>
            </a:extLst>
          </p:cNvPr>
          <p:cNvSpPr>
            <a:spLocks noGrp="1"/>
          </p:cNvSpPr>
          <p:nvPr/>
        </p:nvSpPr>
        <p:spPr>
          <a:xfrm>
            <a:off x="11049000" y="6477000"/>
            <a:ext cx="476250" cy="190500"/>
          </a:xfrm>
          <a:prstGeom prst="rect">
            <a:avLst/>
          </a:prstGeom>
          <a:noFill/>
          <a:ln w="0">
            <a:noFill/>
            <a:prstDash val="solid"/>
          </a:ln>
        </p:spPr>
        <p:txBody>
          <a:bodyPr anchor="ctr"/>
          <a:lstStyle/>
          <a:p>
            <a:pPr algn="r">
              <a:lnSpc>
                <a:spcPct val="105000"/>
              </a:lnSpc>
              <a:buNone/>
              <a:defRPr sz="750" b="1" i="0">
                <a:solidFill>
                  <a:srgbClr val="D4B77D"/>
                </a:solidFill>
                <a:latin typeface="Inter"/>
                <a:ea typeface="Inter"/>
                <a:cs typeface="Inter"/>
              </a:defRPr>
            </a:pPr>
            <a:r>
              <a:rPr sz="750" b="1" i="0">
                <a:solidFill>
                  <a:srgbClr val="D4B77D"/>
                </a:solidFill>
                <a:latin typeface="Inter"/>
                <a:ea typeface="Inter"/>
                <a:cs typeface="Inter"/>
              </a:rPr>
              <a:t>08</a:t>
            </a:r>
          </a:p>
        </p:txBody>
      </p:sp>
    </p:spTree>
    <p:extLst>
      <p:ext uri="{BB962C8B-B14F-4D97-AF65-F5344CB8AC3E}">
        <p14:creationId xmlns:p14="http://schemas.microsoft.com/office/powerpoint/2010/main" val="13549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sp>
        <p:nvSpPr>
          <p:cNvPr id="2" name="thank-you-overlay">
            <a:extLst>
              <a:ext uri="{FF2B5EF4-FFF2-40B4-BE49-F238E27FC236}">
                <a16:creationId xmlns:a16="http://schemas.microsoft.com/office/drawing/2014/main" id="{0C4DF6C6-11A8-47BC-9EBD-C714FDCA7E3D}"/>
              </a:ext>
            </a:extLst>
          </p:cNvPr>
          <p:cNvSpPr>
            <a:spLocks noGrp="1"/>
          </p:cNvSpPr>
          <p:nvPr/>
        </p:nvSpPr>
        <p:spPr>
          <a:xfrm>
            <a:off x="0" y="0"/>
            <a:ext cx="12192000" cy="6858000"/>
          </a:xfrm>
          <a:prstGeom prst="rect">
            <a:avLst/>
          </a:prstGeom>
          <a:solidFill>
            <a:srgbClr val="000000">
              <a:alpha val="64000"/>
            </a:srgbClr>
          </a:solidFill>
          <a:ln w="0">
            <a:noFill/>
            <a:prstDash val="solid"/>
          </a:ln>
        </p:spPr>
        <p:txBody>
          <a:bodyPr/>
          <a:lstStyle/>
          <a:p>
            <a:endParaRPr lang="en-ZA"/>
          </a:p>
        </p:txBody>
      </p:sp>
      <p:sp>
        <p:nvSpPr>
          <p:cNvPr id="3" name="thank-you-rule">
            <a:extLst>
              <a:ext uri="{FF2B5EF4-FFF2-40B4-BE49-F238E27FC236}">
                <a16:creationId xmlns:a16="http://schemas.microsoft.com/office/drawing/2014/main" id="{7680DA52-D3B3-4477-8801-715918DBE64A}"/>
              </a:ext>
            </a:extLst>
          </p:cNvPr>
          <p:cNvSpPr>
            <a:spLocks noGrp="1"/>
          </p:cNvSpPr>
          <p:nvPr/>
        </p:nvSpPr>
        <p:spPr>
          <a:xfrm>
            <a:off x="5143500" y="1924050"/>
            <a:ext cx="1905000" cy="47625"/>
          </a:xfrm>
          <a:prstGeom prst="rect">
            <a:avLst/>
          </a:prstGeom>
          <a:solidFill>
            <a:srgbClr val="A97417"/>
          </a:solidFill>
          <a:ln w="0">
            <a:noFill/>
            <a:prstDash val="solid"/>
          </a:ln>
        </p:spPr>
        <p:txBody>
          <a:bodyPr/>
          <a:lstStyle/>
          <a:p>
            <a:endParaRPr lang="en-ZA"/>
          </a:p>
        </p:txBody>
      </p:sp>
      <p:sp>
        <p:nvSpPr>
          <p:cNvPr id="4" name="thank-you-title">
            <a:extLst>
              <a:ext uri="{FF2B5EF4-FFF2-40B4-BE49-F238E27FC236}">
                <a16:creationId xmlns:a16="http://schemas.microsoft.com/office/drawing/2014/main" id="{94124E75-CCA4-4084-A6B4-8D5D246A903F}"/>
              </a:ext>
            </a:extLst>
          </p:cNvPr>
          <p:cNvSpPr>
            <a:spLocks noGrp="1"/>
          </p:cNvSpPr>
          <p:nvPr/>
        </p:nvSpPr>
        <p:spPr>
          <a:xfrm>
            <a:off x="2381250" y="2286000"/>
            <a:ext cx="7429500" cy="1095375"/>
          </a:xfrm>
          <a:prstGeom prst="rect">
            <a:avLst/>
          </a:prstGeom>
          <a:noFill/>
          <a:ln w="0">
            <a:noFill/>
            <a:prstDash val="solid"/>
          </a:ln>
        </p:spPr>
        <p:txBody>
          <a:bodyPr anchor="ctr"/>
          <a:lstStyle/>
          <a:p>
            <a:pPr algn="ctr">
              <a:lnSpc>
                <a:spcPct val="105000"/>
              </a:lnSpc>
              <a:buNone/>
              <a:defRPr sz="5850" b="1" i="0">
                <a:solidFill>
                  <a:srgbClr val="FFFFFF"/>
                </a:solidFill>
                <a:latin typeface="Playfair Display"/>
                <a:ea typeface="Playfair Display"/>
                <a:cs typeface="Playfair Display"/>
              </a:defRPr>
            </a:pPr>
            <a:r>
              <a:rPr sz="5850" b="1" i="0">
                <a:solidFill>
                  <a:srgbClr val="FFFFFF"/>
                </a:solidFill>
                <a:latin typeface="Playfair Display"/>
                <a:ea typeface="Playfair Display"/>
                <a:cs typeface="Playfair Display"/>
              </a:rPr>
              <a:t>Thank You</a:t>
            </a:r>
          </a:p>
        </p:txBody>
      </p:sp>
      <p:sp>
        <p:nvSpPr>
          <p:cNvPr id="5" name="thank-you-subtitle">
            <a:extLst>
              <a:ext uri="{FF2B5EF4-FFF2-40B4-BE49-F238E27FC236}">
                <a16:creationId xmlns:a16="http://schemas.microsoft.com/office/drawing/2014/main" id="{BAA5E5F8-02AA-4F3C-A172-7AD08F6DD7ED}"/>
              </a:ext>
            </a:extLst>
          </p:cNvPr>
          <p:cNvSpPr>
            <a:spLocks noGrp="1"/>
          </p:cNvSpPr>
          <p:nvPr/>
        </p:nvSpPr>
        <p:spPr>
          <a:xfrm>
            <a:off x="3714750" y="3600450"/>
            <a:ext cx="4762500" cy="419100"/>
          </a:xfrm>
          <a:prstGeom prst="rect">
            <a:avLst/>
          </a:prstGeom>
          <a:noFill/>
          <a:ln w="0">
            <a:noFill/>
            <a:prstDash val="solid"/>
          </a:ln>
        </p:spPr>
        <p:txBody>
          <a:bodyPr anchor="ctr"/>
          <a:lstStyle/>
          <a:p>
            <a:pPr algn="ctr">
              <a:lnSpc>
                <a:spcPct val="105000"/>
              </a:lnSpc>
              <a:buNone/>
              <a:defRPr sz="1800" b="1" i="0">
                <a:solidFill>
                  <a:srgbClr val="D4B77D"/>
                </a:solidFill>
                <a:latin typeface="Inter"/>
                <a:ea typeface="Inter"/>
                <a:cs typeface="Inter"/>
              </a:defRPr>
            </a:pPr>
            <a:r>
              <a:rPr sz="1800" b="1" i="0">
                <a:solidFill>
                  <a:srgbClr val="D4B77D"/>
                </a:solidFill>
                <a:latin typeface="Inter"/>
                <a:ea typeface="Inter"/>
                <a:cs typeface="Inter"/>
              </a:rPr>
              <a:t>Questions &amp; discussion</a:t>
            </a:r>
          </a:p>
        </p:txBody>
      </p:sp>
      <p:sp>
        <p:nvSpPr>
          <p:cNvPr id="6" name="thank-you-brand">
            <a:extLst>
              <a:ext uri="{FF2B5EF4-FFF2-40B4-BE49-F238E27FC236}">
                <a16:creationId xmlns:a16="http://schemas.microsoft.com/office/drawing/2014/main" id="{4C9320E5-D729-41A6-AC6E-1DE04CE97730}"/>
              </a:ext>
            </a:extLst>
          </p:cNvPr>
          <p:cNvSpPr>
            <a:spLocks noGrp="1"/>
          </p:cNvSpPr>
          <p:nvPr/>
        </p:nvSpPr>
        <p:spPr>
          <a:xfrm>
            <a:off x="2952750" y="5848350"/>
            <a:ext cx="6286500" cy="266700"/>
          </a:xfrm>
          <a:prstGeom prst="rect">
            <a:avLst/>
          </a:prstGeom>
          <a:noFill/>
          <a:ln w="0">
            <a:noFill/>
            <a:prstDash val="solid"/>
          </a:ln>
        </p:spPr>
        <p:txBody>
          <a:bodyPr anchor="ctr"/>
          <a:lstStyle/>
          <a:p>
            <a:pPr algn="ctr">
              <a:lnSpc>
                <a:spcPct val="105000"/>
              </a:lnSpc>
              <a:buNone/>
              <a:defRPr sz="1050" b="1" i="0">
                <a:solidFill>
                  <a:srgbClr val="FFFFFF">
                    <a:alpha val="75000"/>
                  </a:srgbClr>
                </a:solidFill>
                <a:latin typeface="Inter"/>
                <a:ea typeface="Inter"/>
                <a:cs typeface="Inter"/>
              </a:defRPr>
            </a:pPr>
            <a:r>
              <a:rPr sz="1050" b="1" i="0">
                <a:solidFill>
                  <a:srgbClr val="FFFFFF">
                    <a:alpha val="75000"/>
                  </a:srgbClr>
                </a:solidFill>
                <a:latin typeface="Inter"/>
                <a:ea typeface="Inter"/>
                <a:cs typeface="Inter"/>
              </a:rPr>
              <a:t>CAFÉ FAUSSE  ·  FINE DINING &amp; SEASONAL ELEGANCE</a:t>
            </a:r>
          </a:p>
        </p:txBody>
      </p:sp>
    </p:spTree>
    <p:extLst>
      <p:ext uri="{BB962C8B-B14F-4D97-AF65-F5344CB8AC3E}">
        <p14:creationId xmlns:p14="http://schemas.microsoft.com/office/powerpoint/2010/main" val="8570309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FEFEF"/>
      </a:hlink>
      <a:folHlink>
        <a:srgbClr val="954F72"/>
      </a:folHlink>
    </a:clrScheme>
    <a:fontScheme name="Quantic CN 01">
      <a:majorFont>
        <a:latin typeface="Apercu Pro"/>
        <a:ea typeface="Alibaba PuHuiTi 2.0 55 Regular"/>
        <a:cs typeface=""/>
      </a:majorFont>
      <a:minorFont>
        <a:latin typeface="Apercu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811</Words>
  <Application>Microsoft Office PowerPoint</Application>
  <DocSecurity>0</DocSecurity>
  <PresentationFormat>Widescreen</PresentationFormat>
  <Paragraphs>125</Paragraphs>
  <Slides>10</Slides>
  <Notes>10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19" baseType="lpstr">
      <vt:lpstr>Arial</vt:lpstr>
      <vt:lpstr>Calibri</vt:lpstr>
      <vt:lpstr>Inter</vt:lpstr>
      <vt:lpstr>Lab Grotesque Bold</vt:lpstr>
      <vt:lpstr>Lab Grotesque Thin</vt:lpstr>
      <vt:lpstr>Playfair Display</vt:lpstr>
      <vt:lpstr>ChatGPT</vt:lpstr>
      <vt:lpstr>Office Theme</vt:lpstr>
      <vt:lpstr>think-cell Slide</vt:lpstr>
      <vt:lpstr>Identity Verification – Dineo Malatjie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Dineo Malatjie</cp:lastModifiedBy>
  <cp:revision>1</cp:revision>
  <dcterms:created xsi:type="dcterms:W3CDTF">2026-07-26T14:03:17Z</dcterms:created>
  <dcterms:modified xsi:type="dcterms:W3CDTF">2026-07-26T14:17:20Z</dcterms:modified>
</cp:coreProperties>
</file>